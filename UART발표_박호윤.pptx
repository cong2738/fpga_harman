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presProps.xml" ContentType="application/vnd.openxmlformats-officedocument.presentationml.presProps+xml"/>
  <Override PartName="/ppt/media/image28.png" ContentType="image/png"/>
  <Override PartName="/ppt/media/image1.jpeg" ContentType="image/jpeg"/>
  <Override PartName="/ppt/media/image3.png" ContentType="image/png"/>
  <Override PartName="/ppt/media/image2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31.gif" ContentType="image/gif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  <Override PartName="/ppt/media/image26.png" ContentType="image/png"/>
  <Override PartName="/ppt/media/image27.png" ContentType="image/png"/>
  <Override PartName="/ppt/media/image29.png" ContentType="image/png"/>
  <Override PartName="/ppt/media/image30.png" ContentType="image/png"/>
  <Override PartName="/ppt/media/image3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5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F54ACDF-0005-48B2-9851-C3B45257626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9808D27-E087-4C6C-A4EB-ED19ECDAA29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기본값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33EAD3E-A798-486B-BB44-0FBE4046757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기본값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204D5C5-275A-4707-9966-5A00A04E87B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기본값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95FE0B5-78F3-480C-AD8E-3FB01CCF617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ko-K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TextBox 4"/>
          <p:cNvSpPr/>
          <p:nvPr/>
        </p:nvSpPr>
        <p:spPr>
          <a:xfrm>
            <a:off x="10020960" y="6501600"/>
            <a:ext cx="217116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9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" name="PlaceHolder 1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&lt;바닥글&gt;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DB4ABAF-034D-40EF-AD38-1E776E701614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&lt;숫자&gt;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&lt;날짜/시간&gt;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ko-KR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2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개요 텍스트의 서식을 편집하려면 클릭하십시오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2</a:t>
            </a:r>
            <a:r>
              <a:rPr b="0" lang="ko-KR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번째 개요 수준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3</a:t>
            </a:r>
            <a:r>
              <a:rPr b="0" lang="ko-KR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번째 개요 수준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864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4</a:t>
            </a:r>
            <a:r>
              <a:rPr b="0" lang="ko-KR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번째 개요 수준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108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5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5" marL="1296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6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6" marL="151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7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4"/>
          <p:cNvSpPr/>
          <p:nvPr/>
        </p:nvSpPr>
        <p:spPr>
          <a:xfrm>
            <a:off x="10004760" y="6501600"/>
            <a:ext cx="217116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900" strike="noStrike" u="non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510480"/>
            <a:ext cx="10972080" cy="67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ko-KR" sz="4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.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B11ADB4-672D-484C-8F40-F008F8ED4919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1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2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개요 텍스트의 서식을 편집하려면 클릭하십시오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2</a:t>
            </a:r>
            <a:r>
              <a:rPr b="0" lang="ko-KR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번째 개요 수준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3</a:t>
            </a:r>
            <a:r>
              <a:rPr b="0" lang="ko-KR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번째 개요 수준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864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4</a:t>
            </a:r>
            <a:r>
              <a:rPr b="0" lang="ko-KR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번째 개요 수준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108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5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5" marL="1296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6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6" marL="151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7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4"/>
          <p:cNvSpPr/>
          <p:nvPr/>
        </p:nvSpPr>
        <p:spPr>
          <a:xfrm>
            <a:off x="10004760" y="6501600"/>
            <a:ext cx="217116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900" strike="noStrike" u="non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B666B82-994B-435D-8370-08EC0FB0E90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1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ko-KR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2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개요 텍스트의 서식을 편집하려면 클릭하십시오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2</a:t>
            </a:r>
            <a:r>
              <a:rPr b="0" lang="ko-KR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번째 개요 수준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3</a:t>
            </a:r>
            <a:r>
              <a:rPr b="0" lang="ko-KR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번째 개요 수준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3" marL="864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4</a:t>
            </a:r>
            <a:r>
              <a:rPr b="0" lang="ko-KR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번째 개요 수준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lvl="4" marL="108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5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5" marL="1296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6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lvl="6" marL="151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7</a:t>
            </a:r>
            <a:r>
              <a:rPr b="0" lang="ko-KR" sz="20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  <p:sldLayoutId id="2147483654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4"/>
          <p:cNvSpPr/>
          <p:nvPr/>
        </p:nvSpPr>
        <p:spPr>
          <a:xfrm>
            <a:off x="10004760" y="6501600"/>
            <a:ext cx="217116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900" strike="noStrike" u="non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510480"/>
            <a:ext cx="10972080" cy="67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ko-KR" sz="4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제목 텍스트의 서식을 편집하려면 클릭하십시오</a:t>
            </a: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.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B4DC3B5-180E-4111-9BA4-363B7B2CFC88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1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slideLayout" Target="../slideLayouts/slideLayout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31.gif"/><Relationship Id="rId2" Type="http://schemas.openxmlformats.org/officeDocument/2006/relationships/slideLayout" Target="../slideLayouts/slideLayout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224d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4"/>
          <p:cNvSpPr/>
          <p:nvPr/>
        </p:nvSpPr>
        <p:spPr>
          <a:xfrm>
            <a:off x="290880" y="1527120"/>
            <a:ext cx="51076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6000" spc="-150" strike="noStrike" u="none">
                <a:solidFill>
                  <a:schemeClr val="lt1"/>
                </a:solidFill>
                <a:effectLst/>
                <a:uFillTx/>
                <a:latin typeface="Pretendard"/>
                <a:ea typeface="Pretendard"/>
              </a:rPr>
              <a:t>UART_WATCH</a:t>
            </a:r>
            <a:endParaRPr b="0" lang="en-US" sz="6000" strike="noStrike" u="non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30" name="TextBox 5"/>
          <p:cNvSpPr/>
          <p:nvPr/>
        </p:nvSpPr>
        <p:spPr>
          <a:xfrm>
            <a:off x="513360" y="2903760"/>
            <a:ext cx="1094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2400" strike="noStrike" u="none">
                <a:solidFill>
                  <a:schemeClr val="lt1"/>
                </a:solidFill>
                <a:effectLst/>
                <a:uFillTx/>
                <a:latin typeface="Pretendard"/>
                <a:ea typeface="Pretendard"/>
              </a:rPr>
              <a:t>박호윤</a:t>
            </a:r>
            <a:endParaRPr b="0" lang="en-US" sz="2400" strike="noStrike" u="non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cxnSp>
        <p:nvCxnSpPr>
          <p:cNvPr id="31" name="직선 연결선 6"/>
          <p:cNvCxnSpPr/>
          <p:nvPr/>
        </p:nvCxnSpPr>
        <p:spPr>
          <a:xfrm>
            <a:off x="513000" y="2542320"/>
            <a:ext cx="11701080" cy="1080"/>
          </a:xfrm>
          <a:prstGeom prst="straightConnector1">
            <a:avLst/>
          </a:prstGeom>
          <a:ln w="3240">
            <a:solidFill>
              <a:srgbClr val="ffffff"/>
            </a:solidFill>
            <a:miter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17" descr=""/>
          <p:cNvPicPr/>
          <p:nvPr/>
        </p:nvPicPr>
        <p:blipFill>
          <a:blip r:embed="rId1"/>
          <a:srcRect l="0" t="0" r="10931" b="0"/>
          <a:stretch/>
        </p:blipFill>
        <p:spPr>
          <a:xfrm>
            <a:off x="6095880" y="0"/>
            <a:ext cx="6107400" cy="68569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33" name="직선 연결선 2"/>
          <p:cNvCxnSpPr/>
          <p:nvPr/>
        </p:nvCxnSpPr>
        <p:spPr>
          <a:xfrm>
            <a:off x="144360" y="176400"/>
            <a:ext cx="12061080" cy="1080"/>
          </a:xfrm>
          <a:prstGeom prst="straightConnector1">
            <a:avLst/>
          </a:prstGeom>
          <a:ln w="76320">
            <a:solidFill>
              <a:srgbClr val="3a6375"/>
            </a:solidFill>
            <a:miter/>
          </a:ln>
        </p:spPr>
      </p:cxnSp>
      <p:cxnSp>
        <p:nvCxnSpPr>
          <p:cNvPr id="34" name="직선 연결선 3"/>
          <p:cNvCxnSpPr/>
          <p:nvPr/>
        </p:nvCxnSpPr>
        <p:spPr>
          <a:xfrm>
            <a:off x="144360" y="6705360"/>
            <a:ext cx="12061080" cy="1080"/>
          </a:xfrm>
          <a:prstGeom prst="straightConnector1">
            <a:avLst/>
          </a:prstGeom>
          <a:ln w="3240">
            <a:solidFill>
              <a:srgbClr val="3a6375"/>
            </a:solidFill>
            <a:miter/>
          </a:ln>
        </p:spPr>
      </p:cxnSp>
      <p:sp>
        <p:nvSpPr>
          <p:cNvPr id="35" name="TextBox 4"/>
          <p:cNvSpPr/>
          <p:nvPr/>
        </p:nvSpPr>
        <p:spPr>
          <a:xfrm>
            <a:off x="1229760" y="721800"/>
            <a:ext cx="10944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3600" strike="noStrike" u="none">
                <a:solidFill>
                  <a:schemeClr val="accent1"/>
                </a:solidFill>
                <a:effectLst/>
                <a:uFillTx/>
                <a:latin typeface="Pretendard Black"/>
                <a:ea typeface="Pretendard Black"/>
              </a:rPr>
              <a:t>목차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6" name="TextBox 6"/>
          <p:cNvSpPr/>
          <p:nvPr/>
        </p:nvSpPr>
        <p:spPr>
          <a:xfrm>
            <a:off x="1856160" y="2362320"/>
            <a:ext cx="34992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0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1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7" name="TextBox 7"/>
          <p:cNvSpPr/>
          <p:nvPr/>
        </p:nvSpPr>
        <p:spPr>
          <a:xfrm>
            <a:off x="2585160" y="2300760"/>
            <a:ext cx="219996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2800" spc="-3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프로젝트 개요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8" name="TextBox 8"/>
          <p:cNvSpPr/>
          <p:nvPr/>
        </p:nvSpPr>
        <p:spPr>
          <a:xfrm>
            <a:off x="1856160" y="3438360"/>
            <a:ext cx="34992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0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2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9" name="TextBox 9"/>
          <p:cNvSpPr/>
          <p:nvPr/>
        </p:nvSpPr>
        <p:spPr>
          <a:xfrm>
            <a:off x="2585160" y="3376800"/>
            <a:ext cx="148572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2800" spc="-3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구현과정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0" name="TextBox 10"/>
          <p:cNvSpPr/>
          <p:nvPr/>
        </p:nvSpPr>
        <p:spPr>
          <a:xfrm>
            <a:off x="1856160" y="4514760"/>
            <a:ext cx="34992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0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3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1" name="TextBox 11"/>
          <p:cNvSpPr/>
          <p:nvPr/>
        </p:nvSpPr>
        <p:spPr>
          <a:xfrm>
            <a:off x="2585160" y="4453200"/>
            <a:ext cx="291384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2800" spc="-3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최종 프로젝트 결과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2" name="TextBox 12"/>
          <p:cNvSpPr/>
          <p:nvPr/>
        </p:nvSpPr>
        <p:spPr>
          <a:xfrm>
            <a:off x="1856160" y="5590800"/>
            <a:ext cx="349920" cy="3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0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4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3" name="TextBox 13"/>
          <p:cNvSpPr/>
          <p:nvPr/>
        </p:nvSpPr>
        <p:spPr>
          <a:xfrm>
            <a:off x="2585160" y="5529240"/>
            <a:ext cx="219996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ko-KR" sz="2800" spc="-3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미래 개선사항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4" name="TextBox 14"/>
          <p:cNvSpPr/>
          <p:nvPr/>
        </p:nvSpPr>
        <p:spPr>
          <a:xfrm>
            <a:off x="2585160" y="986040"/>
            <a:ext cx="2118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table of contents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224d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그룹 6"/>
          <p:cNvGrpSpPr/>
          <p:nvPr/>
        </p:nvGrpSpPr>
        <p:grpSpPr>
          <a:xfrm>
            <a:off x="6817680" y="872280"/>
            <a:ext cx="5374800" cy="4484160"/>
            <a:chOff x="6817680" y="872280"/>
            <a:chExt cx="5374800" cy="4484160"/>
          </a:xfrm>
        </p:grpSpPr>
        <p:sp>
          <p:nvSpPr>
            <p:cNvPr id="46" name="TextBox 1"/>
            <p:cNvSpPr/>
            <p:nvPr/>
          </p:nvSpPr>
          <p:spPr>
            <a:xfrm>
              <a:off x="6818040" y="872280"/>
              <a:ext cx="1865520" cy="3123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9900" strike="noStrike" u="none">
                  <a:solidFill>
                    <a:schemeClr val="lt1"/>
                  </a:solidFill>
                  <a:effectLst/>
                  <a:uFillTx/>
                  <a:latin typeface="Pretendard Black"/>
                  <a:ea typeface="Pretendard Black"/>
                </a:rPr>
                <a:t>1</a:t>
              </a:r>
              <a:endParaRPr b="0" lang="en-US" sz="199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47" name="TextBox 2"/>
            <p:cNvSpPr/>
            <p:nvPr/>
          </p:nvSpPr>
          <p:spPr>
            <a:xfrm>
              <a:off x="6818040" y="3912120"/>
              <a:ext cx="3913560" cy="82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ko-KR" sz="4800" spc="-300" strike="noStrike" u="none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프로젝트 개요</a:t>
              </a:r>
              <a:endParaRPr b="0" lang="en-US" sz="48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48" name="직선 연결선 3"/>
            <p:cNvCxnSpPr/>
            <p:nvPr/>
          </p:nvCxnSpPr>
          <p:spPr>
            <a:xfrm>
              <a:off x="6817680" y="5107320"/>
              <a:ext cx="5375160" cy="108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49" name="직선 연결선 5"/>
            <p:cNvCxnSpPr/>
            <p:nvPr/>
          </p:nvCxnSpPr>
          <p:spPr>
            <a:xfrm>
              <a:off x="6817680" y="5355720"/>
              <a:ext cx="5375160" cy="108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27"/>
          <p:cNvSpPr/>
          <p:nvPr/>
        </p:nvSpPr>
        <p:spPr>
          <a:xfrm flipH="1">
            <a:off x="435960" y="486000"/>
            <a:ext cx="4871880" cy="85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</a:t>
            </a: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란</a:t>
            </a: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?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1" name="TextBox 30"/>
          <p:cNvSpPr/>
          <p:nvPr/>
        </p:nvSpPr>
        <p:spPr>
          <a:xfrm>
            <a:off x="309960" y="1768320"/>
            <a:ext cx="5000400" cy="356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비동기식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PISO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시리얼 통신의 일종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장점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-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저전력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,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단순한구조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,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송수신 동시 수행 가능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단점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-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노이즈에 취약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,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직렬통신 – 느린속도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다중연결 불가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주기 동기화 이슈 발생가능성 多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52" name="그림 12" descr=""/>
          <p:cNvPicPr/>
          <p:nvPr/>
        </p:nvPicPr>
        <p:blipFill>
          <a:blip r:embed="rId1"/>
          <a:stretch/>
        </p:blipFill>
        <p:spPr>
          <a:xfrm>
            <a:off x="276480" y="4898880"/>
            <a:ext cx="6434280" cy="1539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" name="그림 45" descr=""/>
          <p:cNvPicPr/>
          <p:nvPr/>
        </p:nvPicPr>
        <p:blipFill>
          <a:blip r:embed="rId2"/>
          <a:stretch/>
        </p:blipFill>
        <p:spPr>
          <a:xfrm>
            <a:off x="5310360" y="1260000"/>
            <a:ext cx="6659280" cy="4072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Box 16"/>
          <p:cNvSpPr/>
          <p:nvPr/>
        </p:nvSpPr>
        <p:spPr>
          <a:xfrm flipH="1">
            <a:off x="437040" y="486000"/>
            <a:ext cx="5321520" cy="85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프로젝트 동작기획 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55" name="그림 47" descr=""/>
          <p:cNvPicPr/>
          <p:nvPr/>
        </p:nvPicPr>
        <p:blipFill>
          <a:blip r:embed="rId1"/>
          <a:stretch/>
        </p:blipFill>
        <p:spPr>
          <a:xfrm>
            <a:off x="360000" y="1338480"/>
            <a:ext cx="8999280" cy="503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224d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그룹 6"/>
          <p:cNvGrpSpPr/>
          <p:nvPr/>
        </p:nvGrpSpPr>
        <p:grpSpPr>
          <a:xfrm>
            <a:off x="6817680" y="872280"/>
            <a:ext cx="5374800" cy="4484160"/>
            <a:chOff x="6817680" y="872280"/>
            <a:chExt cx="5374800" cy="4484160"/>
          </a:xfrm>
        </p:grpSpPr>
        <p:sp>
          <p:nvSpPr>
            <p:cNvPr id="57" name="TextBox 1"/>
            <p:cNvSpPr/>
            <p:nvPr/>
          </p:nvSpPr>
          <p:spPr>
            <a:xfrm>
              <a:off x="6818040" y="872280"/>
              <a:ext cx="1865520" cy="3123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9900" strike="noStrike" u="none">
                  <a:solidFill>
                    <a:schemeClr val="lt1"/>
                  </a:solidFill>
                  <a:effectLst/>
                  <a:uFillTx/>
                  <a:latin typeface="Pretendard Black"/>
                  <a:ea typeface="Pretendard Black"/>
                </a:rPr>
                <a:t>2</a:t>
              </a:r>
              <a:endParaRPr b="0" lang="en-US" sz="199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58" name="TextBox 2"/>
            <p:cNvSpPr/>
            <p:nvPr/>
          </p:nvSpPr>
          <p:spPr>
            <a:xfrm>
              <a:off x="6818040" y="3912120"/>
              <a:ext cx="2503800" cy="82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ko-KR" sz="4800" spc="-300" strike="noStrike" u="none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구현과정</a:t>
              </a:r>
              <a:endParaRPr b="0" lang="en-US" sz="48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59" name="직선 연결선 3"/>
            <p:cNvCxnSpPr/>
            <p:nvPr/>
          </p:nvCxnSpPr>
          <p:spPr>
            <a:xfrm>
              <a:off x="6817680" y="5107320"/>
              <a:ext cx="5375160" cy="108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60" name="직선 연결선 5"/>
            <p:cNvCxnSpPr/>
            <p:nvPr/>
          </p:nvCxnSpPr>
          <p:spPr>
            <a:xfrm>
              <a:off x="6817680" y="5355720"/>
              <a:ext cx="5375160" cy="108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3"/>
          <p:cNvSpPr/>
          <p:nvPr/>
        </p:nvSpPr>
        <p:spPr>
          <a:xfrm flipH="1">
            <a:off x="435960" y="486000"/>
            <a:ext cx="4871880" cy="85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Tx </a:t>
            </a: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설계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2" name="TextBox 15"/>
          <p:cNvSpPr/>
          <p:nvPr/>
        </p:nvSpPr>
        <p:spPr>
          <a:xfrm>
            <a:off x="309960" y="2099880"/>
            <a:ext cx="490932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처음엔 간단한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부터 설계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state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변화는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tick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 종속됨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state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구조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IDLE START DATA0 DATA1...DATA7 STOP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63" name="그림 55" descr=""/>
          <p:cNvPicPr/>
          <p:nvPr/>
        </p:nvPicPr>
        <p:blipFill>
          <a:blip r:embed="rId1"/>
          <a:stretch/>
        </p:blipFill>
        <p:spPr>
          <a:xfrm>
            <a:off x="5040000" y="1674360"/>
            <a:ext cx="6839280" cy="502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TextBox 19"/>
          <p:cNvSpPr/>
          <p:nvPr/>
        </p:nvSpPr>
        <p:spPr>
          <a:xfrm>
            <a:off x="10929960" y="1260000"/>
            <a:ext cx="4549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 ASM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18"/>
          <p:cNvSpPr/>
          <p:nvPr/>
        </p:nvSpPr>
        <p:spPr>
          <a:xfrm flipH="1">
            <a:off x="435960" y="486000"/>
            <a:ext cx="4871880" cy="161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Tx AMS </a:t>
            </a: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개선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6" name="TextBox 20"/>
          <p:cNvSpPr/>
          <p:nvPr/>
        </p:nvSpPr>
        <p:spPr>
          <a:xfrm>
            <a:off x="309960" y="2013480"/>
            <a:ext cx="45493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데이터카운트를 조건으로 하여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스테이트를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idle – start – data - stop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4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단계로 압축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grpSp>
        <p:nvGrpSpPr>
          <p:cNvPr id="67" name="그룹 59"/>
          <p:cNvGrpSpPr/>
          <p:nvPr/>
        </p:nvGrpSpPr>
        <p:grpSpPr>
          <a:xfrm>
            <a:off x="7560000" y="122400"/>
            <a:ext cx="5039280" cy="6585480"/>
            <a:chOff x="7560000" y="122400"/>
            <a:chExt cx="5039280" cy="6585480"/>
          </a:xfrm>
        </p:grpSpPr>
        <p:sp>
          <p:nvSpPr>
            <p:cNvPr id="68" name="TextBox 21"/>
            <p:cNvSpPr/>
            <p:nvPr/>
          </p:nvSpPr>
          <p:spPr>
            <a:xfrm>
              <a:off x="11085840" y="122400"/>
              <a:ext cx="1513440" cy="36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just" defTabSz="914400">
                <a:lnSpc>
                  <a:spcPct val="100000"/>
                </a:lnSpc>
              </a:pPr>
              <a:r>
                <a:rPr b="0" lang="en-US" sz="1800" strike="noStrike" u="none">
                  <a:solidFill>
                    <a:schemeClr val="accent1">
                      <a:lumMod val="50000"/>
                    </a:schemeClr>
                  </a:solidFill>
                  <a:effectLst/>
                  <a:uFillTx/>
                  <a:latin typeface="Pretendard"/>
                  <a:ea typeface="Pretendard"/>
                </a:rPr>
                <a:t>TX ASM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pic>
          <p:nvPicPr>
            <p:cNvPr id="69" name="그림 61" descr=""/>
            <p:cNvPicPr/>
            <p:nvPr/>
          </p:nvPicPr>
          <p:blipFill>
            <a:blip r:embed="rId1"/>
            <a:stretch/>
          </p:blipFill>
          <p:spPr>
            <a:xfrm>
              <a:off x="7560000" y="122400"/>
              <a:ext cx="4185360" cy="658548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70" name="그림 62" descr=""/>
          <p:cNvPicPr/>
          <p:nvPr/>
        </p:nvPicPr>
        <p:blipFill>
          <a:blip r:embed="rId2"/>
          <a:stretch/>
        </p:blipFill>
        <p:spPr>
          <a:xfrm>
            <a:off x="284040" y="3169080"/>
            <a:ext cx="4755240" cy="3490200"/>
          </a:xfrm>
          <a:prstGeom prst="rect">
            <a:avLst/>
          </a:prstGeom>
          <a:noFill/>
          <a:ln w="76320">
            <a:noFill/>
          </a:ln>
        </p:spPr>
      </p:pic>
      <p:sp>
        <p:nvSpPr>
          <p:cNvPr id="71" name="직선 연결선 63"/>
          <p:cNvSpPr/>
          <p:nvPr/>
        </p:nvSpPr>
        <p:spPr>
          <a:xfrm>
            <a:off x="5400000" y="4320000"/>
            <a:ext cx="1980000" cy="360"/>
          </a:xfrm>
          <a:prstGeom prst="line">
            <a:avLst/>
          </a:prstGeom>
          <a:ln w="5724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18440" rIns="118440" tIns="-73440" bIns="-7344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17"/>
          <p:cNvSpPr/>
          <p:nvPr/>
        </p:nvSpPr>
        <p:spPr>
          <a:xfrm flipH="1">
            <a:off x="435960" y="486000"/>
            <a:ext cx="4871880" cy="85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Tx TESTRUN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73" name="그림 65" descr=""/>
          <p:cNvPicPr/>
          <p:nvPr/>
        </p:nvPicPr>
        <p:blipFill>
          <a:blip r:embed="rId1"/>
          <a:srcRect l="0" t="0" r="43685" b="65510"/>
          <a:stretch/>
        </p:blipFill>
        <p:spPr>
          <a:xfrm>
            <a:off x="5311080" y="1800360"/>
            <a:ext cx="6838920" cy="179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" name="그림 66" descr=""/>
          <p:cNvPicPr/>
          <p:nvPr/>
        </p:nvPicPr>
        <p:blipFill>
          <a:blip r:embed="rId2"/>
          <a:stretch/>
        </p:blipFill>
        <p:spPr>
          <a:xfrm>
            <a:off x="720000" y="3259800"/>
            <a:ext cx="11392200" cy="3399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TextBox 46"/>
          <p:cNvSpPr/>
          <p:nvPr/>
        </p:nvSpPr>
        <p:spPr>
          <a:xfrm>
            <a:off x="309960" y="2099880"/>
            <a:ext cx="454932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버튼입력을 받을때마다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 송신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데이터는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버튼입력마다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1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씩 증가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0 to z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까지만 출력함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xtBox 22"/>
          <p:cNvSpPr/>
          <p:nvPr/>
        </p:nvSpPr>
        <p:spPr>
          <a:xfrm flipH="1">
            <a:off x="435960" y="486000"/>
            <a:ext cx="4871880" cy="85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Rx </a:t>
            </a: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설계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7" name="TextBox 23"/>
          <p:cNvSpPr/>
          <p:nvPr/>
        </p:nvSpPr>
        <p:spPr>
          <a:xfrm>
            <a:off x="309960" y="2035800"/>
            <a:ext cx="454932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전체적인 구조는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와 유사하나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 안정성을 높히기 위해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클럭을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16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배하고 카운트횟수를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조절하여 입력 신호의 초기가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아닌 중간쯤에서 신호를캐치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78" name="그림 70" descr=""/>
          <p:cNvPicPr/>
          <p:nvPr/>
        </p:nvPicPr>
        <p:blipFill>
          <a:blip r:embed="rId1"/>
          <a:stretch/>
        </p:blipFill>
        <p:spPr>
          <a:xfrm>
            <a:off x="342360" y="5337360"/>
            <a:ext cx="6856920" cy="114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TextBox 21"/>
          <p:cNvSpPr/>
          <p:nvPr/>
        </p:nvSpPr>
        <p:spPr>
          <a:xfrm>
            <a:off x="11193840" y="360000"/>
            <a:ext cx="1513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 ASM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80" name="그림 72" descr=""/>
          <p:cNvPicPr/>
          <p:nvPr/>
        </p:nvPicPr>
        <p:blipFill>
          <a:blip r:embed="rId2"/>
          <a:stretch/>
        </p:blipFill>
        <p:spPr>
          <a:xfrm>
            <a:off x="8145360" y="0"/>
            <a:ext cx="4046040" cy="685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Box 24"/>
          <p:cNvSpPr/>
          <p:nvPr/>
        </p:nvSpPr>
        <p:spPr>
          <a:xfrm flipH="1">
            <a:off x="435960" y="486000"/>
            <a:ext cx="4871880" cy="161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Tx </a:t>
            </a: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싱크로나이즈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2" name="TextBox 25"/>
          <p:cNvSpPr/>
          <p:nvPr/>
        </p:nvSpPr>
        <p:spPr>
          <a:xfrm>
            <a:off x="309960" y="2099880"/>
            <a:ext cx="45493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빨라진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의 클럭속도에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를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동기화 시켜 타이밍 이슈를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방지한다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83" name="그림 75" descr=""/>
          <p:cNvPicPr/>
          <p:nvPr/>
        </p:nvPicPr>
        <p:blipFill>
          <a:blip r:embed="rId1"/>
          <a:stretch/>
        </p:blipFill>
        <p:spPr>
          <a:xfrm>
            <a:off x="4500000" y="2224440"/>
            <a:ext cx="7379280" cy="4074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Box 26"/>
          <p:cNvSpPr/>
          <p:nvPr/>
        </p:nvSpPr>
        <p:spPr>
          <a:xfrm flipH="1">
            <a:off x="435960" y="486000"/>
            <a:ext cx="4871880" cy="85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</a:t>
            </a: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구성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85" name="그림 77" descr=""/>
          <p:cNvPicPr/>
          <p:nvPr/>
        </p:nvPicPr>
        <p:blipFill>
          <a:blip r:embed="rId1"/>
          <a:stretch/>
        </p:blipFill>
        <p:spPr>
          <a:xfrm>
            <a:off x="335880" y="1620000"/>
            <a:ext cx="11183400" cy="4896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Box 31"/>
          <p:cNvSpPr/>
          <p:nvPr/>
        </p:nvSpPr>
        <p:spPr>
          <a:xfrm flipH="1">
            <a:off x="435960" y="486000"/>
            <a:ext cx="4871880" cy="161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 TESTRUN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7" name="TextBox 32"/>
          <p:cNvSpPr/>
          <p:nvPr/>
        </p:nvSpPr>
        <p:spPr>
          <a:xfrm>
            <a:off x="309960" y="2160000"/>
            <a:ext cx="5269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PC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입력을 보드의 세그먼트에 출력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88" name="그림 80" descr=""/>
          <p:cNvPicPr/>
          <p:nvPr/>
        </p:nvPicPr>
        <p:blipFill>
          <a:blip r:embed="rId1"/>
          <a:srcRect l="8560" t="10036" r="4431" b="11815"/>
          <a:stretch/>
        </p:blipFill>
        <p:spPr>
          <a:xfrm>
            <a:off x="6379920" y="2880000"/>
            <a:ext cx="5599080" cy="359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9" name="그림 81" descr=""/>
          <p:cNvPicPr/>
          <p:nvPr/>
        </p:nvPicPr>
        <p:blipFill>
          <a:blip r:embed="rId2"/>
          <a:stretch/>
        </p:blipFill>
        <p:spPr>
          <a:xfrm>
            <a:off x="0" y="4193280"/>
            <a:ext cx="6171840" cy="213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Box 33"/>
          <p:cNvSpPr/>
          <p:nvPr/>
        </p:nvSpPr>
        <p:spPr>
          <a:xfrm>
            <a:off x="-50040" y="6024600"/>
            <a:ext cx="4549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 출력을 위한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ASCII TO SEG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Box 29"/>
          <p:cNvSpPr/>
          <p:nvPr/>
        </p:nvSpPr>
        <p:spPr>
          <a:xfrm flipH="1">
            <a:off x="435960" y="486000"/>
            <a:ext cx="4871880" cy="161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메모리가 연결된 </a:t>
            </a: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2" name="TextBox 36"/>
          <p:cNvSpPr/>
          <p:nvPr/>
        </p:nvSpPr>
        <p:spPr>
          <a:xfrm>
            <a:off x="309960" y="2160000"/>
            <a:ext cx="52693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로 문자열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연속된 데이터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을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받아도 문제 없도록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FIFO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메모리를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연결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일종의 데이터 버퍼로서 사용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93" name="그림 85" descr=""/>
          <p:cNvPicPr/>
          <p:nvPr/>
        </p:nvPicPr>
        <p:blipFill>
          <a:blip r:embed="rId1"/>
          <a:stretch/>
        </p:blipFill>
        <p:spPr>
          <a:xfrm>
            <a:off x="2434320" y="3600000"/>
            <a:ext cx="9444960" cy="2845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Box 34"/>
          <p:cNvSpPr/>
          <p:nvPr/>
        </p:nvSpPr>
        <p:spPr>
          <a:xfrm flipH="1">
            <a:off x="435960" y="486000"/>
            <a:ext cx="4871880" cy="161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FIFO MEMORY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설계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5" name="TextBox 35"/>
          <p:cNvSpPr/>
          <p:nvPr/>
        </p:nvSpPr>
        <p:spPr>
          <a:xfrm>
            <a:off x="309960" y="2160000"/>
            <a:ext cx="52693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 RX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입력을 임시저장할 메모리가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필요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FIFO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메모리를 설계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96" name="그림 88" descr=""/>
          <p:cNvPicPr/>
          <p:nvPr/>
        </p:nvPicPr>
        <p:blipFill>
          <a:blip r:embed="rId1"/>
          <a:stretch/>
        </p:blipFill>
        <p:spPr>
          <a:xfrm>
            <a:off x="3632400" y="2880000"/>
            <a:ext cx="8262720" cy="377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7" name="그림 89" descr=""/>
          <p:cNvPicPr/>
          <p:nvPr/>
        </p:nvPicPr>
        <p:blipFill>
          <a:blip r:embed="rId2"/>
          <a:stretch/>
        </p:blipFill>
        <p:spPr>
          <a:xfrm>
            <a:off x="5400000" y="101160"/>
            <a:ext cx="6485400" cy="2418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그림 90" descr=""/>
          <p:cNvPicPr/>
          <p:nvPr/>
        </p:nvPicPr>
        <p:blipFill>
          <a:blip r:embed="rId1"/>
          <a:srcRect l="4544" t="0" r="2275" b="0"/>
          <a:stretch/>
        </p:blipFill>
        <p:spPr>
          <a:xfrm>
            <a:off x="5040000" y="2630520"/>
            <a:ext cx="7151400" cy="422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TextBox 39"/>
          <p:cNvSpPr/>
          <p:nvPr/>
        </p:nvSpPr>
        <p:spPr>
          <a:xfrm flipH="1">
            <a:off x="435960" y="486000"/>
            <a:ext cx="4871880" cy="161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FIFO MEMORY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구조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0" name="TextBox 41"/>
          <p:cNvSpPr/>
          <p:nvPr/>
        </p:nvSpPr>
        <p:spPr>
          <a:xfrm>
            <a:off x="309960" y="2160000"/>
            <a:ext cx="52693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RAM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은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RD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들어오면 읽기모드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WR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들어오면 쓰기모드에 들어간다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Box 42"/>
          <p:cNvSpPr/>
          <p:nvPr/>
        </p:nvSpPr>
        <p:spPr>
          <a:xfrm flipH="1">
            <a:off x="435960" y="486000"/>
            <a:ext cx="4871880" cy="161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FIFO MEMORY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2" name="TextBox 43"/>
          <p:cNvSpPr/>
          <p:nvPr/>
        </p:nvSpPr>
        <p:spPr>
          <a:xfrm>
            <a:off x="309960" y="2160000"/>
            <a:ext cx="112093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전단계 메모리에 값이 있는경우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(not empty)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데이터를 가져오도록 설계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RXMEM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은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UART_TX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사용가능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(not tx_busy)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한 경우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로 데이터 송신하도록 설계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03" name="그림 95" descr=""/>
          <p:cNvPicPr/>
          <p:nvPr/>
        </p:nvPicPr>
        <p:blipFill>
          <a:blip r:embed="rId1"/>
          <a:stretch/>
        </p:blipFill>
        <p:spPr>
          <a:xfrm>
            <a:off x="0" y="3428640"/>
            <a:ext cx="12191040" cy="3230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Box 37"/>
          <p:cNvSpPr/>
          <p:nvPr/>
        </p:nvSpPr>
        <p:spPr>
          <a:xfrm flipH="1">
            <a:off x="435960" y="486000"/>
            <a:ext cx="4871880" cy="85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메모리 에러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5" name="TextBox 38"/>
          <p:cNvSpPr/>
          <p:nvPr/>
        </p:nvSpPr>
        <p:spPr>
          <a:xfrm>
            <a:off x="309960" y="2160000"/>
            <a:ext cx="5269320" cy="374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READ_data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한타이밍 밀리는 이슈가 발생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1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고찰</a:t>
            </a:r>
            <a:r>
              <a:rPr b="1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-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FIFO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를 동기식 회로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순차논리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로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설계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READSTATE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CLOCK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 종속됨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허나 레지스터 또한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CLOCK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종속되어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rxMEM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과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txMEM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간 타이밍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이슈가 발생한것으로 추정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06" name="그림 98" descr=""/>
          <p:cNvPicPr/>
          <p:nvPr/>
        </p:nvPicPr>
        <p:blipFill>
          <a:blip r:embed="rId1"/>
          <a:stretch/>
        </p:blipFill>
        <p:spPr>
          <a:xfrm>
            <a:off x="5843880" y="3798000"/>
            <a:ext cx="6035400" cy="30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직사각형 99"/>
          <p:cNvSpPr/>
          <p:nvPr/>
        </p:nvSpPr>
        <p:spPr>
          <a:xfrm>
            <a:off x="6156000" y="5220000"/>
            <a:ext cx="2519280" cy="899280"/>
          </a:xfrm>
          <a:prstGeom prst="rect">
            <a:avLst/>
          </a:prstGeom>
          <a:noFill/>
          <a:ln w="381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720" rIns="108720" tIns="63720" bIns="63720" anchor="ctr">
            <a:noAutofit/>
          </a:bodyPr>
          <a:p>
            <a:pPr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  <a:ea typeface="DejaVu Sans"/>
            </a:endParaRPr>
          </a:p>
        </p:txBody>
      </p:sp>
      <p:pic>
        <p:nvPicPr>
          <p:cNvPr id="108" name="그림 100" descr=""/>
          <p:cNvPicPr/>
          <p:nvPr/>
        </p:nvPicPr>
        <p:blipFill>
          <a:blip r:embed="rId2"/>
          <a:stretch/>
        </p:blipFill>
        <p:spPr>
          <a:xfrm>
            <a:off x="7380000" y="9000"/>
            <a:ext cx="4499280" cy="3719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Box 44"/>
          <p:cNvSpPr/>
          <p:nvPr/>
        </p:nvSpPr>
        <p:spPr>
          <a:xfrm flipH="1">
            <a:off x="435960" y="486000"/>
            <a:ext cx="4871880" cy="85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ERROR FIX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0" name="TextBox 45"/>
          <p:cNvSpPr/>
          <p:nvPr/>
        </p:nvSpPr>
        <p:spPr>
          <a:xfrm>
            <a:off x="309960" y="2160000"/>
            <a:ext cx="526932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FIFO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 사용되는 메모리 논리를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순차논리에서 조합논리로 변경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비동기식 메모리로서 사용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1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결과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RESISTER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는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RD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신호와 무관하게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FIFO_CU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의 상태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(STATE)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 종속됨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11" name="그림 103" descr=""/>
          <p:cNvPicPr/>
          <p:nvPr/>
        </p:nvPicPr>
        <p:blipFill>
          <a:blip r:embed="rId1"/>
          <a:stretch/>
        </p:blipFill>
        <p:spPr>
          <a:xfrm>
            <a:off x="5374080" y="4476960"/>
            <a:ext cx="6505200" cy="238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2" name="그림 104" descr=""/>
          <p:cNvPicPr/>
          <p:nvPr/>
        </p:nvPicPr>
        <p:blipFill>
          <a:blip r:embed="rId2"/>
          <a:stretch/>
        </p:blipFill>
        <p:spPr>
          <a:xfrm>
            <a:off x="6300000" y="19800"/>
            <a:ext cx="5579280" cy="4435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224d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그룹 6"/>
          <p:cNvGrpSpPr/>
          <p:nvPr/>
        </p:nvGrpSpPr>
        <p:grpSpPr>
          <a:xfrm>
            <a:off x="6817680" y="872280"/>
            <a:ext cx="5374800" cy="4484160"/>
            <a:chOff x="6817680" y="872280"/>
            <a:chExt cx="5374800" cy="4484160"/>
          </a:xfrm>
        </p:grpSpPr>
        <p:sp>
          <p:nvSpPr>
            <p:cNvPr id="114" name="TextBox 1"/>
            <p:cNvSpPr/>
            <p:nvPr/>
          </p:nvSpPr>
          <p:spPr>
            <a:xfrm>
              <a:off x="6818040" y="872280"/>
              <a:ext cx="1865520" cy="3123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9900" strike="noStrike" u="none">
                  <a:solidFill>
                    <a:schemeClr val="lt1"/>
                  </a:solidFill>
                  <a:effectLst/>
                  <a:uFillTx/>
                  <a:latin typeface="Pretendard Black"/>
                  <a:ea typeface="Pretendard Black"/>
                </a:rPr>
                <a:t>3</a:t>
              </a:r>
              <a:endParaRPr b="0" lang="en-US" sz="199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15" name="TextBox 2"/>
            <p:cNvSpPr/>
            <p:nvPr/>
          </p:nvSpPr>
          <p:spPr>
            <a:xfrm>
              <a:off x="6818040" y="3912120"/>
              <a:ext cx="5322960" cy="82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ko-KR" sz="4800" spc="-300" strike="noStrike" u="none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최종 프로젝트 결과</a:t>
              </a:r>
              <a:endParaRPr b="0" lang="en-US" sz="48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116" name="직선 연결선 3"/>
            <p:cNvCxnSpPr/>
            <p:nvPr/>
          </p:nvCxnSpPr>
          <p:spPr>
            <a:xfrm>
              <a:off x="6817680" y="5107320"/>
              <a:ext cx="5375160" cy="108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117" name="직선 연결선 5"/>
            <p:cNvCxnSpPr/>
            <p:nvPr/>
          </p:nvCxnSpPr>
          <p:spPr>
            <a:xfrm>
              <a:off x="6817680" y="5355720"/>
              <a:ext cx="5375160" cy="108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Box 28"/>
          <p:cNvSpPr/>
          <p:nvPr/>
        </p:nvSpPr>
        <p:spPr>
          <a:xfrm flipH="1">
            <a:off x="435960" y="486000"/>
            <a:ext cx="4871880" cy="161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UART_WATCH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동작 설계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9" name="TextBox 47"/>
          <p:cNvSpPr/>
          <p:nvPr/>
        </p:nvSpPr>
        <p:spPr>
          <a:xfrm>
            <a:off x="309960" y="2160000"/>
            <a:ext cx="526932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로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PC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에서 명령어를 받아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WATCH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의 추가동작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시간변화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스탑워치 시작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정지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초기화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제어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20" name="그림 112" descr=""/>
          <p:cNvPicPr/>
          <p:nvPr/>
        </p:nvPicPr>
        <p:blipFill>
          <a:blip r:embed="rId1"/>
          <a:stretch/>
        </p:blipFill>
        <p:spPr>
          <a:xfrm>
            <a:off x="2872080" y="2520000"/>
            <a:ext cx="9007200" cy="413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Box 48"/>
          <p:cNvSpPr/>
          <p:nvPr/>
        </p:nvSpPr>
        <p:spPr>
          <a:xfrm flipH="1">
            <a:off x="435960" y="486000"/>
            <a:ext cx="4871880" cy="85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UART_WATCH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2" name="TextBox 49"/>
          <p:cNvSpPr/>
          <p:nvPr/>
        </p:nvSpPr>
        <p:spPr>
          <a:xfrm>
            <a:off x="309960" y="2160000"/>
            <a:ext cx="52693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명령어를 받아 시계를 조작하기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위해서 명령어를 변환시켜줄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CMD_BOX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필요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23" name="그림 115" descr=""/>
          <p:cNvPicPr/>
          <p:nvPr/>
        </p:nvPicPr>
        <p:blipFill>
          <a:blip r:embed="rId1"/>
          <a:stretch/>
        </p:blipFill>
        <p:spPr>
          <a:xfrm>
            <a:off x="5733720" y="2160000"/>
            <a:ext cx="6145560" cy="4452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Box 50"/>
          <p:cNvSpPr/>
          <p:nvPr/>
        </p:nvSpPr>
        <p:spPr>
          <a:xfrm flipH="1">
            <a:off x="437040" y="486000"/>
            <a:ext cx="12341520" cy="85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CMD_BOX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5" name="TextBox 51"/>
          <p:cNvSpPr/>
          <p:nvPr/>
        </p:nvSpPr>
        <p:spPr>
          <a:xfrm>
            <a:off x="309960" y="1455480"/>
            <a:ext cx="4369680" cy="365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1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최초아이디어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FSM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으로 입력 명령어</a:t>
            </a:r>
            <a:br>
              <a:rPr sz="1800"/>
            </a:b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상태에 따른 신호발생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이전입력과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다르면 상태 변화하도록 설계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ISSUE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동일 데이터 연속 입력시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상태변화 불가능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FIX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BUTTON_DEBOUNCE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에서 영감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FSM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이 아닌 외부 신호를 플래그로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동작시키기 위해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CMDTICK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과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AND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출력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명령어 발생을 알리는 외부신호틱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으로서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RX_DONE(RX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완료신호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을 사용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grpSp>
        <p:nvGrpSpPr>
          <p:cNvPr id="126" name="그룹 118"/>
          <p:cNvGrpSpPr/>
          <p:nvPr/>
        </p:nvGrpSpPr>
        <p:grpSpPr>
          <a:xfrm>
            <a:off x="5940000" y="122400"/>
            <a:ext cx="6109200" cy="3836880"/>
            <a:chOff x="5940000" y="122400"/>
            <a:chExt cx="6109200" cy="3836880"/>
          </a:xfrm>
        </p:grpSpPr>
        <p:pic>
          <p:nvPicPr>
            <p:cNvPr id="127" name="그림 119" descr=""/>
            <p:cNvPicPr/>
            <p:nvPr/>
          </p:nvPicPr>
          <p:blipFill>
            <a:blip r:embed="rId1"/>
            <a:stretch/>
          </p:blipFill>
          <p:spPr>
            <a:xfrm>
              <a:off x="5940000" y="587160"/>
              <a:ext cx="2378880" cy="33721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8" name="그림 120" descr=""/>
            <p:cNvPicPr/>
            <p:nvPr/>
          </p:nvPicPr>
          <p:blipFill>
            <a:blip r:embed="rId2"/>
            <a:stretch/>
          </p:blipFill>
          <p:spPr>
            <a:xfrm>
              <a:off x="8489520" y="504000"/>
              <a:ext cx="3559680" cy="3455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9" name="직선 연결선 121"/>
            <p:cNvSpPr/>
            <p:nvPr/>
          </p:nvSpPr>
          <p:spPr>
            <a:xfrm>
              <a:off x="8319960" y="2233080"/>
              <a:ext cx="339840" cy="360"/>
            </a:xfrm>
            <a:prstGeom prst="line">
              <a:avLst/>
            </a:prstGeom>
            <a:ln w="0">
              <a:solidFill>
                <a:srgbClr val="3465a4"/>
              </a:solidFill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5000" bIns="-45000" anchor="ctr">
              <a:noAutofit/>
            </a:bodyPr>
            <a:p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endParaRPr>
            </a:p>
          </p:txBody>
        </p:sp>
        <p:sp>
          <p:nvSpPr>
            <p:cNvPr id="130" name="TextBox 54"/>
            <p:cNvSpPr/>
            <p:nvPr/>
          </p:nvSpPr>
          <p:spPr>
            <a:xfrm>
              <a:off x="5973840" y="122400"/>
              <a:ext cx="1869120" cy="377640"/>
            </a:xfrm>
            <a:prstGeom prst="rect">
              <a:avLst/>
            </a:prstGeom>
            <a:noFill/>
            <a:ln w="1260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rIns="96120" tIns="51120" bIns="51120" anchor="t">
              <a:spAutoFit/>
            </a:bodyPr>
            <a:p>
              <a:pPr algn="just" defTabSz="914400">
                <a:lnSpc>
                  <a:spcPct val="100000"/>
                </a:lnSpc>
              </a:pPr>
              <a:r>
                <a:rPr b="0" lang="ko-KR" sz="1800" strike="noStrike" u="none">
                  <a:solidFill>
                    <a:schemeClr val="accent1">
                      <a:lumMod val="50000"/>
                    </a:schemeClr>
                  </a:solidFill>
                  <a:effectLst/>
                  <a:uFillTx/>
                  <a:latin typeface="Pretendard"/>
                  <a:ea typeface="Pretendard"/>
                </a:rPr>
                <a:t>최초아이디어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31" name="TextBox 55"/>
            <p:cNvSpPr/>
            <p:nvPr/>
          </p:nvSpPr>
          <p:spPr>
            <a:xfrm>
              <a:off x="8694000" y="122400"/>
              <a:ext cx="1869120" cy="377640"/>
            </a:xfrm>
            <a:prstGeom prst="rect">
              <a:avLst/>
            </a:prstGeom>
            <a:noFill/>
            <a:ln w="12600">
              <a:solidFill>
                <a:srgbClr val="3465a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6120" rIns="96120" tIns="51120" bIns="51120" anchor="t">
              <a:spAutoFit/>
            </a:bodyPr>
            <a:p>
              <a:pPr algn="just" defTabSz="914400">
                <a:lnSpc>
                  <a:spcPct val="100000"/>
                </a:lnSpc>
              </a:pPr>
              <a:r>
                <a:rPr b="0" lang="ko-KR" sz="1800" strike="noStrike" u="none">
                  <a:solidFill>
                    <a:schemeClr val="accent1">
                      <a:lumMod val="50000"/>
                    </a:schemeClr>
                  </a:solidFill>
                  <a:effectLst/>
                  <a:uFillTx/>
                  <a:latin typeface="Pretendard"/>
                  <a:ea typeface="Pretendard"/>
                </a:rPr>
                <a:t>수정 아이디어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</p:grpSp>
      <p:pic>
        <p:nvPicPr>
          <p:cNvPr id="132" name="그림 124" descr=""/>
          <p:cNvPicPr/>
          <p:nvPr/>
        </p:nvPicPr>
        <p:blipFill>
          <a:blip r:embed="rId3"/>
          <a:stretch/>
        </p:blipFill>
        <p:spPr>
          <a:xfrm>
            <a:off x="6212520" y="3960000"/>
            <a:ext cx="5618880" cy="287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Box 52"/>
          <p:cNvSpPr/>
          <p:nvPr/>
        </p:nvSpPr>
        <p:spPr>
          <a:xfrm flipH="1">
            <a:off x="435960" y="486000"/>
            <a:ext cx="4871880" cy="85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CMD </a:t>
            </a: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적용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4" name="TextBox 53"/>
          <p:cNvSpPr/>
          <p:nvPr/>
        </p:nvSpPr>
        <p:spPr>
          <a:xfrm>
            <a:off x="309960" y="2160000"/>
            <a:ext cx="454968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1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아이디어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명령을 동작시키는 신호인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BUTTON_DEBOUNCE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출력과 같은 형태의</a:t>
            </a:r>
            <a:br>
              <a:rPr sz="1800"/>
            </a:b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신호를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BUTTON_DEBOUNCE 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신호와 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OR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연산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35" name="그림 127" descr=""/>
          <p:cNvPicPr/>
          <p:nvPr/>
        </p:nvPicPr>
        <p:blipFill>
          <a:blip r:embed="rId1"/>
          <a:stretch/>
        </p:blipFill>
        <p:spPr>
          <a:xfrm>
            <a:off x="6051240" y="1080000"/>
            <a:ext cx="5828040" cy="5541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그림 128" descr=""/>
          <p:cNvPicPr/>
          <p:nvPr/>
        </p:nvPicPr>
        <p:blipFill>
          <a:blip r:embed="rId1"/>
          <a:srcRect l="3374" t="0" r="0" b="0"/>
          <a:stretch/>
        </p:blipFill>
        <p:spPr>
          <a:xfrm>
            <a:off x="470160" y="1260000"/>
            <a:ext cx="11448720" cy="5378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TextBox 56"/>
          <p:cNvSpPr/>
          <p:nvPr/>
        </p:nvSpPr>
        <p:spPr>
          <a:xfrm flipH="1">
            <a:off x="435960" y="486000"/>
            <a:ext cx="4871880" cy="161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UART_WATCH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구조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40"/>
          <p:cNvSpPr/>
          <p:nvPr/>
        </p:nvSpPr>
        <p:spPr>
          <a:xfrm flipH="1">
            <a:off x="435960" y="486000"/>
            <a:ext cx="4871880" cy="161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UART_WATCH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시연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39" name="그림 131" descr=""/>
          <p:cNvPicPr/>
          <p:nvPr/>
        </p:nvPicPr>
        <p:blipFill>
          <a:blip r:embed="rId1"/>
          <a:stretch/>
        </p:blipFill>
        <p:spPr>
          <a:xfrm>
            <a:off x="2433960" y="1440000"/>
            <a:ext cx="9265320" cy="521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224d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그룹 6"/>
          <p:cNvGrpSpPr/>
          <p:nvPr/>
        </p:nvGrpSpPr>
        <p:grpSpPr>
          <a:xfrm>
            <a:off x="6817680" y="872280"/>
            <a:ext cx="5374800" cy="4484160"/>
            <a:chOff x="6817680" y="872280"/>
            <a:chExt cx="5374800" cy="4484160"/>
          </a:xfrm>
        </p:grpSpPr>
        <p:sp>
          <p:nvSpPr>
            <p:cNvPr id="141" name="TextBox 1"/>
            <p:cNvSpPr/>
            <p:nvPr/>
          </p:nvSpPr>
          <p:spPr>
            <a:xfrm>
              <a:off x="6818040" y="872280"/>
              <a:ext cx="1865520" cy="3123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en-US" sz="19900" strike="noStrike" u="none">
                  <a:solidFill>
                    <a:schemeClr val="lt1"/>
                  </a:solidFill>
                  <a:effectLst/>
                  <a:uFillTx/>
                  <a:latin typeface="Pretendard Black"/>
                  <a:ea typeface="Pretendard Black"/>
                </a:rPr>
                <a:t>4</a:t>
              </a:r>
              <a:endParaRPr b="0" lang="en-US" sz="199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42" name="TextBox 2"/>
            <p:cNvSpPr/>
            <p:nvPr/>
          </p:nvSpPr>
          <p:spPr>
            <a:xfrm>
              <a:off x="6818040" y="3912120"/>
              <a:ext cx="3913560" cy="82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ko-KR" sz="4800" spc="-300" strike="noStrike" u="none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미래 개선사항</a:t>
              </a:r>
              <a:endParaRPr b="0" lang="en-US" sz="48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143" name="직선 연결선 3"/>
            <p:cNvCxnSpPr/>
            <p:nvPr/>
          </p:nvCxnSpPr>
          <p:spPr>
            <a:xfrm>
              <a:off x="6817680" y="5107320"/>
              <a:ext cx="5375160" cy="108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144" name="직선 연결선 5"/>
            <p:cNvCxnSpPr/>
            <p:nvPr/>
          </p:nvCxnSpPr>
          <p:spPr>
            <a:xfrm>
              <a:off x="6817680" y="5355720"/>
              <a:ext cx="5375160" cy="108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Box 58"/>
          <p:cNvSpPr/>
          <p:nvPr/>
        </p:nvSpPr>
        <p:spPr>
          <a:xfrm flipH="1">
            <a:off x="435960" y="486000"/>
            <a:ext cx="4871880" cy="85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ko-KR" sz="5000" spc="-3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미래 개선사항</a:t>
            </a:r>
            <a:endParaRPr b="0" lang="en-US" sz="50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6" name="TextBox 59"/>
          <p:cNvSpPr/>
          <p:nvPr/>
        </p:nvSpPr>
        <p:spPr>
          <a:xfrm>
            <a:off x="309960" y="1769400"/>
            <a:ext cx="6170040" cy="20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1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아이디어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통신 프로토콜 적용으로 데이터신뢰성을 올리거나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가변길이 문자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유니코드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또는 문자열통신을 구현가능하다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SIDE_EFF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</a:t>
            </a: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는 잡음에 취약하기 때문에 프로토콜에 맞지 않아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b="0" lang="ko-KR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데이터가 유실될 가능성이 높아진다</a:t>
            </a:r>
            <a:r>
              <a:rPr b="0" lang="en-US" sz="1800" strike="noStrike" u="non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47" name="" descr=""/>
          <p:cNvPicPr/>
          <p:nvPr/>
        </p:nvPicPr>
        <p:blipFill>
          <a:blip r:embed="rId1"/>
          <a:stretch/>
        </p:blipFill>
        <p:spPr>
          <a:xfrm>
            <a:off x="4860000" y="3586320"/>
            <a:ext cx="7020000" cy="3073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224d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그룹 1"/>
          <p:cNvGrpSpPr/>
          <p:nvPr/>
        </p:nvGrpSpPr>
        <p:grpSpPr>
          <a:xfrm>
            <a:off x="180000" y="2340000"/>
            <a:ext cx="5374800" cy="4484160"/>
            <a:chOff x="180000" y="2340000"/>
            <a:chExt cx="5374800" cy="4484160"/>
          </a:xfrm>
        </p:grpSpPr>
        <p:sp>
          <p:nvSpPr>
            <p:cNvPr id="149" name="TextBox 57"/>
            <p:cNvSpPr/>
            <p:nvPr/>
          </p:nvSpPr>
          <p:spPr>
            <a:xfrm>
              <a:off x="180360" y="2340000"/>
              <a:ext cx="1865520" cy="3122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맑은 고딕"/>
                <a:ea typeface="DejaVu Sans"/>
              </a:endParaRPr>
            </a:p>
          </p:txBody>
        </p:sp>
        <p:sp>
          <p:nvSpPr>
            <p:cNvPr id="150" name="TextBox 60"/>
            <p:cNvSpPr/>
            <p:nvPr/>
          </p:nvSpPr>
          <p:spPr>
            <a:xfrm>
              <a:off x="180360" y="5379840"/>
              <a:ext cx="3075480" cy="82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b="1" lang="ko-KR" sz="4800" spc="-300" strike="noStrike" u="none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감사합니다</a:t>
              </a:r>
              <a:endParaRPr b="0" lang="en-US" sz="4800" strike="noStrike" u="non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151" name="직선 연결선 4"/>
            <p:cNvCxnSpPr/>
            <p:nvPr/>
          </p:nvCxnSpPr>
          <p:spPr>
            <a:xfrm>
              <a:off x="180000" y="6575040"/>
              <a:ext cx="5375160" cy="108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152" name="직선 연결선 7"/>
            <p:cNvCxnSpPr/>
            <p:nvPr/>
          </p:nvCxnSpPr>
          <p:spPr>
            <a:xfrm>
              <a:off x="180000" y="6823440"/>
              <a:ext cx="5375160" cy="108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1298</TotalTime>
  <Application>LibreOffice/25.2.0.3$Windows_X86_64 LibreOffice_project/e1cf4a87eb02d755bce1a01209907ea5ddc8f069</Application>
  <AppVersion>15.0000</AppVersion>
  <Words>491</Words>
  <Paragraphs>135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2022-08-03T01:14:38Z</dcterms:created>
  <dc:creator>Yu Saebyeol</dc:creator>
  <dc:description/>
  <dc:language>ko-KR</dc:language>
  <cp:lastModifiedBy/>
  <dcterms:modified xsi:type="dcterms:W3CDTF">2025-03-23T22:10:42Z</dcterms:modified>
  <cp:revision>124</cp:revision>
  <dc:subject/>
  <dc:title>PowerPoint 프레젠테이션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와이드스크린</vt:lpwstr>
  </property>
  <property fmtid="{D5CDD505-2E9C-101B-9397-08002B2CF9AE}" pid="3" name="Slides">
    <vt:i4>29</vt:i4>
  </property>
</Properties>
</file>