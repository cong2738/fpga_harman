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5" r:id="rId4"/>
    <p:sldMasterId id="2147483657" r:id="rId5"/>
    <p:sldMasterId id="2147483659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8BD0C2F-F701-4A2E-AD8B-2380E7BFCA6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98C832E-27A6-4E61-AD0C-7FCC41563C1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기본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BD6C307-1247-4C31-9D81-0B786C3A773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기본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5176E98-5D39-4693-9AD9-EB383669280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기본값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4E3CEFC-0B2E-4CD8-BA2E-B444655FB1C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기본값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8B75AFD9-21AF-4A9D-A9E2-82C98BBD060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기본값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A7F7CB5-DF17-4730-9F5A-D4FEB8AA2B1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/>
          <p:nvPr/>
        </p:nvSpPr>
        <p:spPr>
          <a:xfrm>
            <a:off x="10020240" y="6501600"/>
            <a:ext cx="21711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Pretendard"/>
              </a:rPr>
              <a:t>ⓒSaebyeol Yu. Saebyeol’s PowerPoint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EA8D5B-8E11-430C-B5A3-C958E7C60E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&lt;날짜/시간&gt;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ko-KR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432000" lvl="1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2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48000" lvl="2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3</a:t>
            </a: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864000" lvl="3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08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296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512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7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/>
          <p:nvPr/>
        </p:nvSpPr>
        <p:spPr>
          <a:xfrm>
            <a:off x="10004040" y="6501600"/>
            <a:ext cx="21711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Arial"/>
                <a:ea typeface="Pretendard"/>
              </a:rPr>
              <a:t>ⓒSaebyeol Yu. Saebyeol’s PowerPoint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175320"/>
            <a:ext cx="109720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A7A0DB-6CD3-4E7E-9670-266A85093D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432000" lvl="1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2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48000" lvl="2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3</a:t>
            </a: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864000" lvl="3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08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296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512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7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4"/>
          <p:cNvSpPr/>
          <p:nvPr/>
        </p:nvSpPr>
        <p:spPr>
          <a:xfrm>
            <a:off x="10004040" y="6501600"/>
            <a:ext cx="21711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Arial"/>
                <a:ea typeface="Pretendard"/>
              </a:rPr>
              <a:t>ⓒSaebyeol Yu. Saebyeol’s PowerPoint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AF1726-71FA-4DD0-B471-59507E930F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ko-KR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432000" lvl="1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2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48000" lvl="2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3</a:t>
            </a: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864000" lvl="3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08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296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512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7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4"/>
          <p:cNvSpPr/>
          <p:nvPr/>
        </p:nvSpPr>
        <p:spPr>
          <a:xfrm>
            <a:off x="10004040" y="6501600"/>
            <a:ext cx="21711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Arial"/>
                <a:ea typeface="Pretendard"/>
              </a:rPr>
              <a:t>ⓒSaebyeol Yu. Saebyeol’s PowerPoint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175320"/>
            <a:ext cx="109720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52F419-D2E3-4206-989B-48643DAA4E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4"/>
          <p:cNvSpPr/>
          <p:nvPr/>
        </p:nvSpPr>
        <p:spPr>
          <a:xfrm>
            <a:off x="10004040" y="6501600"/>
            <a:ext cx="21711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Arial"/>
                <a:ea typeface="Pretendard"/>
              </a:rPr>
              <a:t>ⓒSaebyeol Yu. Saebyeol’s PowerPoint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75320"/>
            <a:ext cx="109720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5A2FC5-B81C-484E-86EC-7CC353090C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4"/>
          <p:cNvSpPr/>
          <p:nvPr/>
        </p:nvSpPr>
        <p:spPr>
          <a:xfrm>
            <a:off x="10004040" y="6501600"/>
            <a:ext cx="21711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Arial"/>
                <a:ea typeface="Pretendard"/>
              </a:rPr>
              <a:t>ⓒSaebyeol Yu. Saebyeol’s PowerPoint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175320"/>
            <a:ext cx="109720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165371-31FD-49F0-AAAE-F3A2189D8D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ng2738/FPGA_Harman/tree/836652ed417c931650c9f8b6e894552b3a4bcc3b/UART_WATCH_v1" TargetMode="Externa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"/>
          <p:cNvSpPr/>
          <p:nvPr/>
        </p:nvSpPr>
        <p:spPr>
          <a:xfrm>
            <a:off x="290880" y="1527120"/>
            <a:ext cx="5107680" cy="100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6000" b="0" u="none" strike="noStrike" spc="-150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UART_WATCH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TextBox 5"/>
          <p:cNvSpPr/>
          <p:nvPr/>
        </p:nvSpPr>
        <p:spPr>
          <a:xfrm>
            <a:off x="513360" y="2903760"/>
            <a:ext cx="109440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박호윤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cxnSp>
        <p:nvCxnSpPr>
          <p:cNvPr id="45" name="직선 연결선 6"/>
          <p:cNvCxnSpPr/>
          <p:nvPr/>
        </p:nvCxnSpPr>
        <p:spPr>
          <a:xfrm>
            <a:off x="513000" y="2542320"/>
            <a:ext cx="11701800" cy="1800"/>
          </a:xfrm>
          <a:prstGeom prst="straightConnector1">
            <a:avLst/>
          </a:prstGeom>
          <a:ln w="3240">
            <a:solidFill>
              <a:srgbClr val="FFFFFF"/>
            </a:solidFill>
            <a:miter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17"/>
          <p:cNvPicPr/>
          <p:nvPr/>
        </p:nvPicPr>
        <p:blipFill>
          <a:blip r:embed="rId2"/>
          <a:srcRect r="10931"/>
          <a:stretch/>
        </p:blipFill>
        <p:spPr>
          <a:xfrm>
            <a:off x="6095880" y="0"/>
            <a:ext cx="6106680" cy="68562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직선 연결선 2"/>
          <p:cNvCxnSpPr/>
          <p:nvPr/>
        </p:nvCxnSpPr>
        <p:spPr>
          <a:xfrm>
            <a:off x="144360" y="176400"/>
            <a:ext cx="12061800" cy="1800"/>
          </a:xfrm>
          <a:prstGeom prst="straightConnector1">
            <a:avLst/>
          </a:prstGeom>
          <a:ln w="76320">
            <a:solidFill>
              <a:srgbClr val="3A6375"/>
            </a:solidFill>
            <a:miter/>
          </a:ln>
        </p:spPr>
      </p:cxnSp>
      <p:cxnSp>
        <p:nvCxnSpPr>
          <p:cNvPr id="48" name="직선 연결선 3"/>
          <p:cNvCxnSpPr/>
          <p:nvPr/>
        </p:nvCxnSpPr>
        <p:spPr>
          <a:xfrm>
            <a:off x="144360" y="6705360"/>
            <a:ext cx="12061800" cy="1800"/>
          </a:xfrm>
          <a:prstGeom prst="straightConnector1">
            <a:avLst/>
          </a:prstGeom>
          <a:ln w="3240">
            <a:solidFill>
              <a:srgbClr val="3A6375"/>
            </a:solidFill>
            <a:miter/>
          </a:ln>
        </p:spPr>
      </p:cxnSp>
      <p:sp>
        <p:nvSpPr>
          <p:cNvPr id="49" name="TextBox 4"/>
          <p:cNvSpPr/>
          <p:nvPr/>
        </p:nvSpPr>
        <p:spPr>
          <a:xfrm>
            <a:off x="1229760" y="721800"/>
            <a:ext cx="1094400" cy="64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3600" b="1" u="none" strike="noStrike">
                <a:solidFill>
                  <a:schemeClr val="accent1"/>
                </a:solidFill>
                <a:effectLst/>
                <a:uFillTx/>
                <a:latin typeface="Pretendard Black"/>
                <a:ea typeface="Pretendard Black"/>
              </a:rPr>
              <a:t>목차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TextBox 6"/>
          <p:cNvSpPr/>
          <p:nvPr/>
        </p:nvSpPr>
        <p:spPr>
          <a:xfrm>
            <a:off x="1856160" y="2362320"/>
            <a:ext cx="349920" cy="39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Pretendard"/>
                <a:ea typeface="Pretendard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TextBox 7"/>
          <p:cNvSpPr/>
          <p:nvPr/>
        </p:nvSpPr>
        <p:spPr>
          <a:xfrm>
            <a:off x="2585160" y="2300760"/>
            <a:ext cx="21999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800" b="0" u="none" strike="noStrike" spc="-300">
                <a:solidFill>
                  <a:schemeClr val="accent1"/>
                </a:solidFill>
                <a:effectLst/>
                <a:uFillTx/>
                <a:latin typeface="Pretendard"/>
                <a:ea typeface="Pretendard"/>
              </a:rPr>
              <a:t>프로젝트 개요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TextBox 8"/>
          <p:cNvSpPr/>
          <p:nvPr/>
        </p:nvSpPr>
        <p:spPr>
          <a:xfrm>
            <a:off x="1856160" y="3438360"/>
            <a:ext cx="349920" cy="39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Pretendard"/>
                <a:ea typeface="Pretendard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TextBox 9"/>
          <p:cNvSpPr/>
          <p:nvPr/>
        </p:nvSpPr>
        <p:spPr>
          <a:xfrm>
            <a:off x="2585160" y="3376800"/>
            <a:ext cx="148572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800" b="0" u="none" strike="noStrike" spc="-300">
                <a:solidFill>
                  <a:schemeClr val="accent1"/>
                </a:solidFill>
                <a:effectLst/>
                <a:uFillTx/>
                <a:latin typeface="Pretendard"/>
                <a:ea typeface="Pretendard"/>
              </a:rPr>
              <a:t>구현과정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1856160" y="4514760"/>
            <a:ext cx="349920" cy="39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Pretendard"/>
                <a:ea typeface="Pretendard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TextBox 11"/>
          <p:cNvSpPr/>
          <p:nvPr/>
        </p:nvSpPr>
        <p:spPr>
          <a:xfrm>
            <a:off x="2585160" y="4453200"/>
            <a:ext cx="291384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800" b="0" u="none" strike="noStrike" spc="-300">
                <a:solidFill>
                  <a:schemeClr val="accent1"/>
                </a:solidFill>
                <a:effectLst/>
                <a:uFillTx/>
                <a:latin typeface="Pretendard"/>
                <a:ea typeface="Pretendard"/>
              </a:rPr>
              <a:t>최종 프로젝트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TextBox 12"/>
          <p:cNvSpPr/>
          <p:nvPr/>
        </p:nvSpPr>
        <p:spPr>
          <a:xfrm>
            <a:off x="1856160" y="5590800"/>
            <a:ext cx="349920" cy="39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Pretendard"/>
                <a:ea typeface="Pretendard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TextBox 13"/>
          <p:cNvSpPr/>
          <p:nvPr/>
        </p:nvSpPr>
        <p:spPr>
          <a:xfrm>
            <a:off x="2585160" y="5529240"/>
            <a:ext cx="21999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800" b="0" u="none" strike="noStrike" spc="-300">
                <a:solidFill>
                  <a:schemeClr val="accent1"/>
                </a:solidFill>
                <a:effectLst/>
                <a:uFillTx/>
                <a:latin typeface="Pretendard"/>
                <a:ea typeface="Pretendard"/>
              </a:rPr>
              <a:t>미래 개선사항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TextBox 14"/>
          <p:cNvSpPr/>
          <p:nvPr/>
        </p:nvSpPr>
        <p:spPr>
          <a:xfrm>
            <a:off x="2585160" y="986040"/>
            <a:ext cx="211896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/>
                </a:solidFill>
                <a:effectLst/>
                <a:uFillTx/>
                <a:latin typeface="Pretendard"/>
                <a:ea typeface="Pretendard"/>
              </a:rPr>
              <a:t>table of contents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그룹 6"/>
          <p:cNvGrpSpPr/>
          <p:nvPr/>
        </p:nvGrpSpPr>
        <p:grpSpPr>
          <a:xfrm>
            <a:off x="6817680" y="872280"/>
            <a:ext cx="5375520" cy="4484880"/>
            <a:chOff x="6817680" y="872280"/>
            <a:chExt cx="5375520" cy="4484880"/>
          </a:xfrm>
        </p:grpSpPr>
        <p:sp>
          <p:nvSpPr>
            <p:cNvPr id="60" name="TextBox 1"/>
            <p:cNvSpPr/>
            <p:nvPr/>
          </p:nvSpPr>
          <p:spPr>
            <a:xfrm>
              <a:off x="6818040" y="872280"/>
              <a:ext cx="1865520" cy="312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9900" b="1" u="none" strike="noStrike">
                  <a:solidFill>
                    <a:schemeClr val="lt1"/>
                  </a:solidFill>
                  <a:effectLst/>
                  <a:uFillTx/>
                  <a:latin typeface="Pretendard Black"/>
                  <a:ea typeface="Pretendard Black"/>
                </a:rPr>
                <a:t>1</a:t>
              </a:r>
              <a:endParaRPr lang="en-US" sz="199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61" name="TextBox 2"/>
            <p:cNvSpPr/>
            <p:nvPr/>
          </p:nvSpPr>
          <p:spPr>
            <a:xfrm>
              <a:off x="6818040" y="3912120"/>
              <a:ext cx="3913560" cy="82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4800" b="1" u="none" strike="noStrike" spc="-300">
                  <a:solidFill>
                    <a:schemeClr val="lt1"/>
                  </a:solidFill>
                  <a:effectLst/>
                  <a:uFillTx/>
                  <a:latin typeface="Pretendard"/>
                  <a:ea typeface="Pretendard"/>
                </a:rPr>
                <a:t>프로젝트 개요</a:t>
              </a:r>
              <a:endParaRPr lang="en-US" sz="48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cxnSp>
          <p:nvCxnSpPr>
            <p:cNvPr id="62" name="직선 연결선 3"/>
            <p:cNvCxnSpPr/>
            <p:nvPr/>
          </p:nvCxnSpPr>
          <p:spPr>
            <a:xfrm>
              <a:off x="6817680" y="5107320"/>
              <a:ext cx="5375880" cy="1800"/>
            </a:xfrm>
            <a:prstGeom prst="straightConnector1">
              <a:avLst/>
            </a:prstGeom>
            <a:ln w="76320">
              <a:solidFill>
                <a:srgbClr val="FFFFFF"/>
              </a:solidFill>
              <a:miter/>
            </a:ln>
          </p:spPr>
        </p:cxnSp>
        <p:cxnSp>
          <p:nvCxnSpPr>
            <p:cNvPr id="63" name="직선 연결선 5"/>
            <p:cNvCxnSpPr/>
            <p:nvPr/>
          </p:nvCxnSpPr>
          <p:spPr>
            <a:xfrm>
              <a:off x="6817680" y="5355720"/>
              <a:ext cx="5375880" cy="1800"/>
            </a:xfrm>
            <a:prstGeom prst="straightConnector1">
              <a:avLst/>
            </a:prstGeom>
            <a:ln w="3240">
              <a:solidFill>
                <a:srgbClr val="FFFFFF"/>
              </a:solidFill>
              <a:miter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7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UART</a:t>
            </a: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란</a:t>
            </a: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?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TextBox 30"/>
          <p:cNvSpPr/>
          <p:nvPr/>
        </p:nvSpPr>
        <p:spPr>
          <a:xfrm>
            <a:off x="309960" y="1768320"/>
            <a:ext cx="4999680" cy="356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비동기식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PISO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시리얼 통신의 일종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장점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저전력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,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단순한구조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,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송수신 동시 수행 가능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단점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노이즈에 취약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,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직렬통신 – 느린속도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다중연결 불가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DejaVu Sans"/>
              </a:rPr>
              <a:t>주기 동기화 이슈 발생가능성 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66" name="그림 12"/>
          <p:cNvPicPr/>
          <p:nvPr/>
        </p:nvPicPr>
        <p:blipFill>
          <a:blip r:embed="rId2"/>
          <a:stretch/>
        </p:blipFill>
        <p:spPr>
          <a:xfrm>
            <a:off x="276480" y="4898880"/>
            <a:ext cx="6433560" cy="153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그림 45"/>
          <p:cNvPicPr/>
          <p:nvPr/>
        </p:nvPicPr>
        <p:blipFill>
          <a:blip r:embed="rId3"/>
          <a:stretch/>
        </p:blipFill>
        <p:spPr>
          <a:xfrm>
            <a:off x="5310360" y="1260000"/>
            <a:ext cx="6658560" cy="4071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6"/>
          <p:cNvSpPr/>
          <p:nvPr/>
        </p:nvSpPr>
        <p:spPr>
          <a:xfrm flipH="1">
            <a:off x="436320" y="486000"/>
            <a:ext cx="532080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프로젝트 동작기획 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69" name="그림 47"/>
          <p:cNvPicPr/>
          <p:nvPr/>
        </p:nvPicPr>
        <p:blipFill>
          <a:blip r:embed="rId2"/>
          <a:stretch/>
        </p:blipFill>
        <p:spPr>
          <a:xfrm>
            <a:off x="360000" y="1338480"/>
            <a:ext cx="8998560" cy="5032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"/>
          <p:cNvGrpSpPr/>
          <p:nvPr/>
        </p:nvGrpSpPr>
        <p:grpSpPr>
          <a:xfrm>
            <a:off x="6817680" y="872280"/>
            <a:ext cx="5375520" cy="4484880"/>
            <a:chOff x="6817680" y="872280"/>
            <a:chExt cx="5375520" cy="4484880"/>
          </a:xfrm>
        </p:grpSpPr>
        <p:sp>
          <p:nvSpPr>
            <p:cNvPr id="71" name="TextBox 1"/>
            <p:cNvSpPr/>
            <p:nvPr/>
          </p:nvSpPr>
          <p:spPr>
            <a:xfrm>
              <a:off x="6818040" y="872280"/>
              <a:ext cx="1865520" cy="312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9900" b="1" u="none" strike="noStrike">
                  <a:solidFill>
                    <a:schemeClr val="lt1"/>
                  </a:solidFill>
                  <a:effectLst/>
                  <a:uFillTx/>
                  <a:latin typeface="Pretendard Black"/>
                  <a:ea typeface="Pretendard Black"/>
                </a:rPr>
                <a:t>2</a:t>
              </a:r>
              <a:endParaRPr lang="en-US" sz="199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72" name="TextBox 2"/>
            <p:cNvSpPr/>
            <p:nvPr/>
          </p:nvSpPr>
          <p:spPr>
            <a:xfrm>
              <a:off x="6818040" y="3912120"/>
              <a:ext cx="2503800" cy="82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4800" b="1" u="none" strike="noStrike" spc="-300">
                  <a:solidFill>
                    <a:schemeClr val="lt1"/>
                  </a:solidFill>
                  <a:effectLst/>
                  <a:uFillTx/>
                  <a:latin typeface="Pretendard"/>
                  <a:ea typeface="Pretendard"/>
                </a:rPr>
                <a:t>구현과정</a:t>
              </a:r>
              <a:endParaRPr lang="en-US" sz="48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cxnSp>
          <p:nvCxnSpPr>
            <p:cNvPr id="73" name="직선 연결선 3"/>
            <p:cNvCxnSpPr/>
            <p:nvPr/>
          </p:nvCxnSpPr>
          <p:spPr>
            <a:xfrm>
              <a:off x="6817680" y="5107320"/>
              <a:ext cx="5375880" cy="1800"/>
            </a:xfrm>
            <a:prstGeom prst="straightConnector1">
              <a:avLst/>
            </a:prstGeom>
            <a:ln w="76320">
              <a:solidFill>
                <a:srgbClr val="FFFFFF"/>
              </a:solidFill>
              <a:miter/>
            </a:ln>
          </p:spPr>
        </p:cxnSp>
        <p:cxnSp>
          <p:nvCxnSpPr>
            <p:cNvPr id="74" name="직선 연결선 5"/>
            <p:cNvCxnSpPr/>
            <p:nvPr/>
          </p:nvCxnSpPr>
          <p:spPr>
            <a:xfrm>
              <a:off x="6817680" y="5355720"/>
              <a:ext cx="5375880" cy="1800"/>
            </a:xfrm>
            <a:prstGeom prst="straightConnector1">
              <a:avLst/>
            </a:prstGeom>
            <a:ln w="3240">
              <a:solidFill>
                <a:srgbClr val="FFFFFF"/>
              </a:solidFill>
              <a:miter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3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Tx </a:t>
            </a: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설계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TextBox 15"/>
          <p:cNvSpPr/>
          <p:nvPr/>
        </p:nvSpPr>
        <p:spPr>
          <a:xfrm>
            <a:off x="309960" y="2099880"/>
            <a:ext cx="4908600" cy="256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처음엔 간단한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TX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부터 설계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state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변화는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tick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에 종속됨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state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구조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IDLE START DATA0 DATA1...DATA7 STOP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77" name="그림 55"/>
          <p:cNvPicPr/>
          <p:nvPr/>
        </p:nvPicPr>
        <p:blipFill>
          <a:blip r:embed="rId2"/>
          <a:stretch/>
        </p:blipFill>
        <p:spPr>
          <a:xfrm>
            <a:off x="5040000" y="1674360"/>
            <a:ext cx="6838560" cy="501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19"/>
          <p:cNvSpPr/>
          <p:nvPr/>
        </p:nvSpPr>
        <p:spPr>
          <a:xfrm>
            <a:off x="10929960" y="1260000"/>
            <a:ext cx="454860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TX ASM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8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Tx AMS </a:t>
            </a: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개선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309960" y="2013480"/>
            <a:ext cx="4548600" cy="118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데이터카운트를 조건으로 하여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스테이트를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idle – start – data - stop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4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단계로 압축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pSp>
        <p:nvGrpSpPr>
          <p:cNvPr id="81" name="그룹 59"/>
          <p:cNvGrpSpPr/>
          <p:nvPr/>
        </p:nvGrpSpPr>
        <p:grpSpPr>
          <a:xfrm>
            <a:off x="7560000" y="122400"/>
            <a:ext cx="5038560" cy="6584760"/>
            <a:chOff x="7560000" y="122400"/>
            <a:chExt cx="5038560" cy="6584760"/>
          </a:xfrm>
        </p:grpSpPr>
        <p:sp>
          <p:nvSpPr>
            <p:cNvPr id="82" name="TextBox 21"/>
            <p:cNvSpPr/>
            <p:nvPr/>
          </p:nvSpPr>
          <p:spPr>
            <a:xfrm>
              <a:off x="11085840" y="122400"/>
              <a:ext cx="1512720" cy="36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just"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latin typeface="Pretendard"/>
                  <a:ea typeface="Pretendard"/>
                </a:rPr>
                <a:t>TX ASM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pic>
          <p:nvPicPr>
            <p:cNvPr id="83" name="그림 61"/>
            <p:cNvPicPr/>
            <p:nvPr/>
          </p:nvPicPr>
          <p:blipFill>
            <a:blip r:embed="rId2"/>
            <a:stretch/>
          </p:blipFill>
          <p:spPr>
            <a:xfrm>
              <a:off x="7560000" y="122400"/>
              <a:ext cx="4184640" cy="6584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84" name="그림 62"/>
          <p:cNvPicPr/>
          <p:nvPr/>
        </p:nvPicPr>
        <p:blipFill>
          <a:blip r:embed="rId3"/>
          <a:stretch/>
        </p:blipFill>
        <p:spPr>
          <a:xfrm>
            <a:off x="284040" y="3169080"/>
            <a:ext cx="4754520" cy="3489480"/>
          </a:xfrm>
          <a:prstGeom prst="rect">
            <a:avLst/>
          </a:prstGeom>
          <a:noFill/>
          <a:ln w="76320">
            <a:noFill/>
          </a:ln>
        </p:spPr>
      </p:pic>
      <p:sp>
        <p:nvSpPr>
          <p:cNvPr id="85" name="직선 연결선 63"/>
          <p:cNvSpPr/>
          <p:nvPr/>
        </p:nvSpPr>
        <p:spPr>
          <a:xfrm>
            <a:off x="5400000" y="4320000"/>
            <a:ext cx="1980000" cy="360"/>
          </a:xfrm>
          <a:prstGeom prst="line">
            <a:avLst/>
          </a:prstGeom>
          <a:ln w="5724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-73440" rIns="118440" bIns="-734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  <a:ea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7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Tx TESTRUN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87" name="그림 65"/>
          <p:cNvPicPr/>
          <p:nvPr/>
        </p:nvPicPr>
        <p:blipFill>
          <a:blip r:embed="rId2"/>
          <a:srcRect r="43685" b="65510"/>
          <a:stretch/>
        </p:blipFill>
        <p:spPr>
          <a:xfrm>
            <a:off x="5311080" y="1800360"/>
            <a:ext cx="6838200" cy="179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그림 66"/>
          <p:cNvPicPr/>
          <p:nvPr/>
        </p:nvPicPr>
        <p:blipFill>
          <a:blip r:embed="rId3"/>
          <a:stretch/>
        </p:blipFill>
        <p:spPr>
          <a:xfrm>
            <a:off x="720000" y="3259800"/>
            <a:ext cx="11391480" cy="339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46"/>
          <p:cNvSpPr/>
          <p:nvPr/>
        </p:nvSpPr>
        <p:spPr>
          <a:xfrm>
            <a:off x="309960" y="2099880"/>
            <a:ext cx="4548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버튼입력을 받을때마다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TX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데이터 송신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데이터는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버튼입력마다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씩 증가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 0 to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까지만 출력함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22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Rx </a:t>
            </a: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설계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TextBox 23"/>
          <p:cNvSpPr/>
          <p:nvPr/>
        </p:nvSpPr>
        <p:spPr>
          <a:xfrm>
            <a:off x="309960" y="2035800"/>
            <a:ext cx="4548600" cy="192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전체적인 구조는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TX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와 유사하나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데이터 안정성을 높히기 위해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클럭을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16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배하고 카운트횟수를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조절하여 입력 신호의 초기가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아닌 중간쯤에서 신호를캐치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2" name="그림 70"/>
          <p:cNvPicPr/>
          <p:nvPr/>
        </p:nvPicPr>
        <p:blipFill>
          <a:blip r:embed="rId2"/>
          <a:stretch/>
        </p:blipFill>
        <p:spPr>
          <a:xfrm>
            <a:off x="342360" y="5337360"/>
            <a:ext cx="6856200" cy="11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21"/>
          <p:cNvSpPr/>
          <p:nvPr/>
        </p:nvSpPr>
        <p:spPr>
          <a:xfrm>
            <a:off x="11193840" y="360000"/>
            <a:ext cx="151272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RX ASM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4" name="그림 72"/>
          <p:cNvPicPr/>
          <p:nvPr/>
        </p:nvPicPr>
        <p:blipFill>
          <a:blip r:embed="rId3"/>
          <a:stretch/>
        </p:blipFill>
        <p:spPr>
          <a:xfrm>
            <a:off x="8145360" y="0"/>
            <a:ext cx="4045320" cy="6856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24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Tx </a:t>
            </a: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싱크로나이즈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TextBox 25"/>
          <p:cNvSpPr/>
          <p:nvPr/>
        </p:nvSpPr>
        <p:spPr>
          <a:xfrm>
            <a:off x="309960" y="2099880"/>
            <a:ext cx="4548600" cy="118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빨라진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RX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의 클럭속도에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TX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동기화 시켜 타이밍 이슈를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방지한다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7" name="그림 75"/>
          <p:cNvPicPr/>
          <p:nvPr/>
        </p:nvPicPr>
        <p:blipFill>
          <a:blip r:embed="rId2"/>
          <a:stretch/>
        </p:blipFill>
        <p:spPr>
          <a:xfrm>
            <a:off x="4500000" y="2224440"/>
            <a:ext cx="7378560" cy="4074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26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UART_</a:t>
            </a: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구성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9" name="그림 77"/>
          <p:cNvPicPr/>
          <p:nvPr/>
        </p:nvPicPr>
        <p:blipFill>
          <a:blip r:embed="rId2"/>
          <a:stretch/>
        </p:blipFill>
        <p:spPr>
          <a:xfrm>
            <a:off x="335880" y="1620000"/>
            <a:ext cx="11182680" cy="4895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31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UART TESTRUN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" name="TextBox 32"/>
          <p:cNvSpPr/>
          <p:nvPr/>
        </p:nvSpPr>
        <p:spPr>
          <a:xfrm>
            <a:off x="309960" y="2160000"/>
            <a:ext cx="526860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PC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입력을 보드의 세그먼트에 출력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02" name="그림 80"/>
          <p:cNvPicPr/>
          <p:nvPr/>
        </p:nvPicPr>
        <p:blipFill>
          <a:blip r:embed="rId2"/>
          <a:srcRect l="8560" t="10036" r="4431" b="11815"/>
          <a:stretch/>
        </p:blipFill>
        <p:spPr>
          <a:xfrm>
            <a:off x="6379920" y="2880000"/>
            <a:ext cx="5598360" cy="359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그림 81"/>
          <p:cNvPicPr/>
          <p:nvPr/>
        </p:nvPicPr>
        <p:blipFill>
          <a:blip r:embed="rId3"/>
          <a:stretch/>
        </p:blipFill>
        <p:spPr>
          <a:xfrm>
            <a:off x="0" y="4193280"/>
            <a:ext cx="6171120" cy="213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33"/>
          <p:cNvSpPr/>
          <p:nvPr/>
        </p:nvSpPr>
        <p:spPr>
          <a:xfrm>
            <a:off x="-50040" y="6024600"/>
            <a:ext cx="454860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데이터 출력을 위한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ASCII TO SEG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29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메모리가 연결된 </a:t>
            </a: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UART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" name="TextBox 36"/>
          <p:cNvSpPr/>
          <p:nvPr/>
        </p:nvSpPr>
        <p:spPr>
          <a:xfrm>
            <a:off x="309960" y="2160000"/>
            <a:ext cx="5268600" cy="118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UART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로 문자열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연속된 데이터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받아도 문제 없도록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FIFO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메모리를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연결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일종의 데이터 버퍼로서 사용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07" name="그림 85"/>
          <p:cNvPicPr/>
          <p:nvPr/>
        </p:nvPicPr>
        <p:blipFill>
          <a:blip r:embed="rId2"/>
          <a:stretch/>
        </p:blipFill>
        <p:spPr>
          <a:xfrm>
            <a:off x="2434320" y="3600000"/>
            <a:ext cx="9444240" cy="2845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34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FIFO MEMORY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설계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" name="TextBox 35"/>
          <p:cNvSpPr/>
          <p:nvPr/>
        </p:nvSpPr>
        <p:spPr>
          <a:xfrm>
            <a:off x="309960" y="2160000"/>
            <a:ext cx="5268600" cy="82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UART RX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입력을 임시저장할 메모리가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필요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 FIFO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메모리를 설계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10" name="그림 88"/>
          <p:cNvPicPr/>
          <p:nvPr/>
        </p:nvPicPr>
        <p:blipFill>
          <a:blip r:embed="rId2"/>
          <a:stretch/>
        </p:blipFill>
        <p:spPr>
          <a:xfrm>
            <a:off x="3632400" y="2880000"/>
            <a:ext cx="8262000" cy="377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그림 89"/>
          <p:cNvPicPr/>
          <p:nvPr/>
        </p:nvPicPr>
        <p:blipFill>
          <a:blip r:embed="rId3"/>
          <a:stretch/>
        </p:blipFill>
        <p:spPr>
          <a:xfrm>
            <a:off x="5400000" y="101160"/>
            <a:ext cx="6484680" cy="2417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그림 90"/>
          <p:cNvPicPr/>
          <p:nvPr/>
        </p:nvPicPr>
        <p:blipFill>
          <a:blip r:embed="rId2"/>
          <a:srcRect l="4544" r="2275"/>
          <a:stretch/>
        </p:blipFill>
        <p:spPr>
          <a:xfrm>
            <a:off x="5040000" y="2630520"/>
            <a:ext cx="7150680" cy="422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39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FIFO MEMORY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구조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" name="TextBox 41"/>
          <p:cNvSpPr/>
          <p:nvPr/>
        </p:nvSpPr>
        <p:spPr>
          <a:xfrm>
            <a:off x="309960" y="2160000"/>
            <a:ext cx="5268600" cy="82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RAM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은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RD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가 들어오면 읽기모드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WR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가 들어오면 쓰기모드에 들어간다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42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FIFO MEMORY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UART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" name="TextBox 43"/>
          <p:cNvSpPr/>
          <p:nvPr/>
        </p:nvSpPr>
        <p:spPr>
          <a:xfrm>
            <a:off x="309960" y="2160000"/>
            <a:ext cx="11208600" cy="118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전단계 메모리에 값이 있는경우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(not empty)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데이터를 가져오도록 설계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RXMEM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은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UART_TX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가 사용가능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(not tx_busy)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한 경우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TX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로 데이터 송신하도록 설계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17" name="그림 95"/>
          <p:cNvPicPr/>
          <p:nvPr/>
        </p:nvPicPr>
        <p:blipFill>
          <a:blip r:embed="rId2"/>
          <a:stretch/>
        </p:blipFill>
        <p:spPr>
          <a:xfrm>
            <a:off x="0" y="3428640"/>
            <a:ext cx="12190320" cy="3229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37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메모리 에러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" name="TextBox 38"/>
          <p:cNvSpPr/>
          <p:nvPr/>
        </p:nvSpPr>
        <p:spPr>
          <a:xfrm>
            <a:off x="309960" y="2160000"/>
            <a:ext cx="5268600" cy="2583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800" b="0" u="none" strike="noStrike" dirty="0" err="1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READ_data</a:t>
            </a: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가 </a:t>
            </a:r>
            <a:r>
              <a:rPr lang="ko-KR" sz="1800" b="0" u="none" strike="noStrike" dirty="0" err="1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한타이밍</a:t>
            </a: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 밀리는 이슈가 발생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고찰</a:t>
            </a:r>
            <a:r>
              <a:rPr lang="en-US" sz="1800" b="1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-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FIFO</a:t>
            </a:r>
            <a:r>
              <a:rPr lang="ko-KR" sz="1800" b="0" u="none" strike="noStrike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를 </a:t>
            </a: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동기식 회로</a:t>
            </a:r>
            <a:r>
              <a:rPr lang="en-US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ko-KR" sz="1800" b="0" u="none" strike="noStrike" dirty="0" err="1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순차논리</a:t>
            </a:r>
            <a:r>
              <a:rPr lang="en-US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로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설계</a:t>
            </a:r>
            <a:r>
              <a:rPr lang="en-US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 READSTATE</a:t>
            </a: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가 </a:t>
            </a:r>
            <a:r>
              <a:rPr lang="en-US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CLOCK</a:t>
            </a: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에 종속됨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허나 </a:t>
            </a:r>
            <a:r>
              <a:rPr lang="ko-KR" dirty="0"/>
              <a:t>레지스터</a:t>
            </a:r>
            <a:r>
              <a:rPr lang="ko-KR" sz="1800" b="0" u="none" strike="noStrike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 또한 </a:t>
            </a:r>
            <a:r>
              <a:rPr lang="en-US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CLOCK</a:t>
            </a: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에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종속되어 </a:t>
            </a:r>
            <a:r>
              <a:rPr lang="en-US" sz="1800" b="0" u="none" strike="noStrike" dirty="0" err="1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rxMEM</a:t>
            </a: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과 </a:t>
            </a:r>
            <a:r>
              <a:rPr lang="en-US" sz="1800" b="0" u="none" strike="noStrike" dirty="0" err="1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txMEM</a:t>
            </a: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간 타이밍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이슈가 발생한것으로 추정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20" name="그림 98"/>
          <p:cNvPicPr/>
          <p:nvPr/>
        </p:nvPicPr>
        <p:blipFill>
          <a:blip r:embed="rId2"/>
          <a:stretch/>
        </p:blipFill>
        <p:spPr>
          <a:xfrm>
            <a:off x="5843880" y="3798000"/>
            <a:ext cx="6034680" cy="305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직사각형 99"/>
          <p:cNvSpPr/>
          <p:nvPr/>
        </p:nvSpPr>
        <p:spPr>
          <a:xfrm>
            <a:off x="6274188" y="5599445"/>
            <a:ext cx="2518560" cy="898560"/>
          </a:xfrm>
          <a:prstGeom prst="rect">
            <a:avLst/>
          </a:prstGeom>
          <a:noFill/>
          <a:ln w="3816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720" tIns="63720" rIns="108720" bIns="6372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  <a:ea typeface="DejaVu Sans"/>
            </a:endParaRPr>
          </a:p>
        </p:txBody>
      </p:sp>
      <p:pic>
        <p:nvPicPr>
          <p:cNvPr id="122" name="그림 100"/>
          <p:cNvPicPr/>
          <p:nvPr/>
        </p:nvPicPr>
        <p:blipFill>
          <a:blip r:embed="rId3"/>
          <a:stretch/>
        </p:blipFill>
        <p:spPr>
          <a:xfrm>
            <a:off x="7380000" y="9000"/>
            <a:ext cx="4498560" cy="3719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44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ERROR FIX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TextBox 45"/>
          <p:cNvSpPr/>
          <p:nvPr/>
        </p:nvSpPr>
        <p:spPr>
          <a:xfrm>
            <a:off x="309960" y="2160000"/>
            <a:ext cx="5268600" cy="22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FIFO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에 사용되는 메모리 논리를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순차논리에서 조합논리로 변경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비동기식 메모리로서 사용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결과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: RESISTER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는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RD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신호와 무관하게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FIFO_CU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의 상태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(STATE)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에 종속됨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25" name="그림 103"/>
          <p:cNvPicPr/>
          <p:nvPr/>
        </p:nvPicPr>
        <p:blipFill>
          <a:blip r:embed="rId2"/>
          <a:stretch/>
        </p:blipFill>
        <p:spPr>
          <a:xfrm>
            <a:off x="5374080" y="4476960"/>
            <a:ext cx="6504480" cy="237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그림 104"/>
          <p:cNvPicPr/>
          <p:nvPr/>
        </p:nvPicPr>
        <p:blipFill>
          <a:blip r:embed="rId3"/>
          <a:stretch/>
        </p:blipFill>
        <p:spPr>
          <a:xfrm>
            <a:off x="6300000" y="19800"/>
            <a:ext cx="5578560" cy="4434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그룹 6"/>
          <p:cNvGrpSpPr/>
          <p:nvPr/>
        </p:nvGrpSpPr>
        <p:grpSpPr>
          <a:xfrm>
            <a:off x="6817680" y="872280"/>
            <a:ext cx="5375520" cy="4484880"/>
            <a:chOff x="6817680" y="872280"/>
            <a:chExt cx="5375520" cy="4484880"/>
          </a:xfrm>
        </p:grpSpPr>
        <p:sp>
          <p:nvSpPr>
            <p:cNvPr id="128" name="TextBox 1"/>
            <p:cNvSpPr/>
            <p:nvPr/>
          </p:nvSpPr>
          <p:spPr>
            <a:xfrm>
              <a:off x="6818040" y="872280"/>
              <a:ext cx="1865520" cy="312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9900" b="1" u="none" strike="noStrike">
                  <a:solidFill>
                    <a:schemeClr val="lt1"/>
                  </a:solidFill>
                  <a:effectLst/>
                  <a:uFillTx/>
                  <a:latin typeface="Pretendard Black"/>
                  <a:ea typeface="Pretendard Black"/>
                </a:rPr>
                <a:t>3</a:t>
              </a:r>
              <a:endParaRPr lang="en-US" sz="199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29" name="TextBox 2"/>
            <p:cNvSpPr/>
            <p:nvPr/>
          </p:nvSpPr>
          <p:spPr>
            <a:xfrm>
              <a:off x="6818040" y="3912120"/>
              <a:ext cx="5322960" cy="82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4800" b="1" u="none" strike="noStrike" spc="-300">
                  <a:solidFill>
                    <a:schemeClr val="lt1"/>
                  </a:solidFill>
                  <a:effectLst/>
                  <a:uFillTx/>
                  <a:latin typeface="Pretendard"/>
                  <a:ea typeface="Pretendard"/>
                </a:rPr>
                <a:t>최종 프로젝트 결과</a:t>
              </a:r>
              <a:endParaRPr lang="en-US" sz="48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cxnSp>
          <p:nvCxnSpPr>
            <p:cNvPr id="130" name="직선 연결선 3"/>
            <p:cNvCxnSpPr/>
            <p:nvPr/>
          </p:nvCxnSpPr>
          <p:spPr>
            <a:xfrm>
              <a:off x="6817680" y="5107320"/>
              <a:ext cx="5375880" cy="1800"/>
            </a:xfrm>
            <a:prstGeom prst="straightConnector1">
              <a:avLst/>
            </a:prstGeom>
            <a:ln w="76320">
              <a:solidFill>
                <a:srgbClr val="FFFFFF"/>
              </a:solidFill>
              <a:miter/>
            </a:ln>
          </p:spPr>
        </p:cxnSp>
        <p:cxnSp>
          <p:nvCxnSpPr>
            <p:cNvPr id="131" name="직선 연결선 5"/>
            <p:cNvCxnSpPr/>
            <p:nvPr/>
          </p:nvCxnSpPr>
          <p:spPr>
            <a:xfrm>
              <a:off x="6817680" y="5355720"/>
              <a:ext cx="5375880" cy="1800"/>
            </a:xfrm>
            <a:prstGeom prst="straightConnector1">
              <a:avLst/>
            </a:prstGeom>
            <a:ln w="3240">
              <a:solidFill>
                <a:srgbClr val="FFFFFF"/>
              </a:solidFill>
              <a:miter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28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UART_WATCH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동작 설계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TextBox 47"/>
          <p:cNvSpPr/>
          <p:nvPr/>
        </p:nvSpPr>
        <p:spPr>
          <a:xfrm>
            <a:off x="309960" y="2160000"/>
            <a:ext cx="5268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UART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로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PC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에서 명령어를 받아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WATCH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의 추가동작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시간변화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스탑워치 시작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정지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초기화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제어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34" name="그림 112"/>
          <p:cNvPicPr/>
          <p:nvPr/>
        </p:nvPicPr>
        <p:blipFill>
          <a:blip r:embed="rId2"/>
          <a:stretch/>
        </p:blipFill>
        <p:spPr>
          <a:xfrm>
            <a:off x="2872080" y="2520000"/>
            <a:ext cx="900648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48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UART_WATCH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" name="TextBox 49"/>
          <p:cNvSpPr/>
          <p:nvPr/>
        </p:nvSpPr>
        <p:spPr>
          <a:xfrm>
            <a:off x="309960" y="2160000"/>
            <a:ext cx="5268600" cy="118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명령어를 받아 시계를 조작하기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위해서 명령어를 변환시켜줄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CMD_BOX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가 필요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37" name="그림 115"/>
          <p:cNvPicPr/>
          <p:nvPr/>
        </p:nvPicPr>
        <p:blipFill>
          <a:blip r:embed="rId2"/>
          <a:stretch/>
        </p:blipFill>
        <p:spPr>
          <a:xfrm>
            <a:off x="5733720" y="2160000"/>
            <a:ext cx="6144840" cy="4452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50"/>
          <p:cNvSpPr/>
          <p:nvPr/>
        </p:nvSpPr>
        <p:spPr>
          <a:xfrm flipH="1">
            <a:off x="436320" y="486000"/>
            <a:ext cx="1234080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CMD_BOX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" name="TextBox 51"/>
          <p:cNvSpPr/>
          <p:nvPr/>
        </p:nvSpPr>
        <p:spPr>
          <a:xfrm>
            <a:off x="309960" y="1455480"/>
            <a:ext cx="4368960" cy="365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최초아이디어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: FSM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으로 입력 명령어</a:t>
            </a:r>
            <a:r>
              <a:rPr sz="1800"/>
              <a:t/>
            </a:r>
            <a:br>
              <a:rPr sz="1800"/>
            </a:b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상태에 따른 신호발생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이전입력과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다르면 상태 변화하도록 설계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ISSUE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동일 데이터 연속 입력시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상태변화 불가능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FIX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: BUTTON_DEBOUNCE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에서 영감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FSM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이 아닌 외부 신호를 플래그로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동작시키기 위해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CMDTICK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과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AND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출력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명령어 발생을 알리는 외부신호틱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으로서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RX_DONE(RX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완료신호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을 사용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pSp>
        <p:nvGrpSpPr>
          <p:cNvPr id="140" name="그룹 118"/>
          <p:cNvGrpSpPr/>
          <p:nvPr/>
        </p:nvGrpSpPr>
        <p:grpSpPr>
          <a:xfrm>
            <a:off x="5940000" y="122400"/>
            <a:ext cx="6108480" cy="3836160"/>
            <a:chOff x="5940000" y="122400"/>
            <a:chExt cx="6108480" cy="3836160"/>
          </a:xfrm>
        </p:grpSpPr>
        <p:pic>
          <p:nvPicPr>
            <p:cNvPr id="141" name="그림 119"/>
            <p:cNvPicPr/>
            <p:nvPr/>
          </p:nvPicPr>
          <p:blipFill>
            <a:blip r:embed="rId2"/>
            <a:stretch/>
          </p:blipFill>
          <p:spPr>
            <a:xfrm>
              <a:off x="5940000" y="587160"/>
              <a:ext cx="2378160" cy="3371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2" name="그림 120"/>
            <p:cNvPicPr/>
            <p:nvPr/>
          </p:nvPicPr>
          <p:blipFill>
            <a:blip r:embed="rId3"/>
            <a:stretch/>
          </p:blipFill>
          <p:spPr>
            <a:xfrm>
              <a:off x="8489520" y="504000"/>
              <a:ext cx="3558960" cy="3454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3" name="직선 연결선 121"/>
            <p:cNvSpPr/>
            <p:nvPr/>
          </p:nvSpPr>
          <p:spPr>
            <a:xfrm>
              <a:off x="8319960" y="2233080"/>
              <a:ext cx="339840" cy="360"/>
            </a:xfrm>
            <a:prstGeom prst="line">
              <a:avLst/>
            </a:prstGeom>
            <a:ln w="0">
              <a:solidFill>
                <a:srgbClr val="3465A4"/>
              </a:solidFill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5000" rIns="90000" bIns="-45000" anchor="ctr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DejaVu Sans"/>
              </a:endParaRPr>
            </a:p>
          </p:txBody>
        </p:sp>
        <p:sp>
          <p:nvSpPr>
            <p:cNvPr id="144" name="TextBox 54"/>
            <p:cNvSpPr/>
            <p:nvPr/>
          </p:nvSpPr>
          <p:spPr>
            <a:xfrm>
              <a:off x="5973840" y="122400"/>
              <a:ext cx="1868400" cy="378360"/>
            </a:xfrm>
            <a:prstGeom prst="rect">
              <a:avLst/>
            </a:prstGeom>
            <a:noFill/>
            <a:ln w="1260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51120" rIns="96120" bIns="51120" anchor="t">
              <a:spAutoFit/>
            </a:bodyPr>
            <a:lstStyle/>
            <a:p>
              <a:pPr algn="just" defTabSz="914400">
                <a:lnSpc>
                  <a:spcPct val="100000"/>
                </a:lnSpc>
              </a:pPr>
              <a:r>
                <a:rPr lang="ko-KR" sz="1800" b="0" u="none" strike="noStrike"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latin typeface="Pretendard"/>
                  <a:ea typeface="Pretendard"/>
                </a:rPr>
                <a:t>최초아이디어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45" name="TextBox 55"/>
            <p:cNvSpPr/>
            <p:nvPr/>
          </p:nvSpPr>
          <p:spPr>
            <a:xfrm>
              <a:off x="8694000" y="122400"/>
              <a:ext cx="1868400" cy="378360"/>
            </a:xfrm>
            <a:prstGeom prst="rect">
              <a:avLst/>
            </a:prstGeom>
            <a:noFill/>
            <a:ln w="1260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51120" rIns="96120" bIns="51120" anchor="t">
              <a:spAutoFit/>
            </a:bodyPr>
            <a:lstStyle/>
            <a:p>
              <a:pPr algn="just" defTabSz="914400">
                <a:lnSpc>
                  <a:spcPct val="100000"/>
                </a:lnSpc>
              </a:pPr>
              <a:r>
                <a:rPr lang="ko-KR" sz="1800" b="0" u="none" strike="noStrike"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latin typeface="Pretendard"/>
                  <a:ea typeface="Pretendard"/>
                </a:rPr>
                <a:t>수정 아이디어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</p:grpSp>
      <p:pic>
        <p:nvPicPr>
          <p:cNvPr id="146" name="그림 124"/>
          <p:cNvPicPr/>
          <p:nvPr/>
        </p:nvPicPr>
        <p:blipFill>
          <a:blip r:embed="rId4"/>
          <a:stretch/>
        </p:blipFill>
        <p:spPr>
          <a:xfrm>
            <a:off x="6212520" y="3960000"/>
            <a:ext cx="5618160" cy="287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52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CMD </a:t>
            </a: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적용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" name="TextBox 53"/>
          <p:cNvSpPr/>
          <p:nvPr/>
        </p:nvSpPr>
        <p:spPr>
          <a:xfrm>
            <a:off x="309960" y="2160000"/>
            <a:ext cx="4548960" cy="11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아이디어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명령을 동작시키는 신호인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BUTTON_DEBOUNCE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출력과 같은 형태의</a:t>
            </a:r>
            <a:r>
              <a:rPr sz="1800"/>
              <a:t/>
            </a:r>
            <a:br>
              <a:rPr sz="1800"/>
            </a:b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신호를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BUTTON_DEBOUNCE 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신호와 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연산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49" name="그림 127"/>
          <p:cNvPicPr/>
          <p:nvPr/>
        </p:nvPicPr>
        <p:blipFill>
          <a:blip r:embed="rId2"/>
          <a:stretch/>
        </p:blipFill>
        <p:spPr>
          <a:xfrm>
            <a:off x="6051240" y="1080000"/>
            <a:ext cx="5827320" cy="5540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그림 128"/>
          <p:cNvPicPr/>
          <p:nvPr/>
        </p:nvPicPr>
        <p:blipFill>
          <a:blip r:embed="rId2"/>
          <a:srcRect l="3374"/>
          <a:stretch/>
        </p:blipFill>
        <p:spPr>
          <a:xfrm>
            <a:off x="470160" y="1260000"/>
            <a:ext cx="11448000" cy="537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Box 56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UART_WATCH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구조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40"/>
          <p:cNvSpPr/>
          <p:nvPr/>
        </p:nvSpPr>
        <p:spPr>
          <a:xfrm flipH="1">
            <a:off x="435240" y="486000"/>
            <a:ext cx="4871160" cy="161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UART_WATCH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시연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53" name="그림 131"/>
          <p:cNvPicPr/>
          <p:nvPr/>
        </p:nvPicPr>
        <p:blipFill>
          <a:blip r:embed="rId2"/>
          <a:stretch/>
        </p:blipFill>
        <p:spPr>
          <a:xfrm>
            <a:off x="2433960" y="1440000"/>
            <a:ext cx="9264600" cy="521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그룹 6"/>
          <p:cNvGrpSpPr/>
          <p:nvPr/>
        </p:nvGrpSpPr>
        <p:grpSpPr>
          <a:xfrm>
            <a:off x="6817680" y="872280"/>
            <a:ext cx="5375520" cy="4484880"/>
            <a:chOff x="6817680" y="872280"/>
            <a:chExt cx="5375520" cy="4484880"/>
          </a:xfrm>
        </p:grpSpPr>
        <p:sp>
          <p:nvSpPr>
            <p:cNvPr id="155" name="TextBox 1"/>
            <p:cNvSpPr/>
            <p:nvPr/>
          </p:nvSpPr>
          <p:spPr>
            <a:xfrm>
              <a:off x="6818040" y="872280"/>
              <a:ext cx="1865520" cy="312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9900" b="1" u="none" strike="noStrike">
                  <a:solidFill>
                    <a:schemeClr val="lt1"/>
                  </a:solidFill>
                  <a:effectLst/>
                  <a:uFillTx/>
                  <a:latin typeface="Pretendard Black"/>
                  <a:ea typeface="Pretendard Black"/>
                </a:rPr>
                <a:t>4</a:t>
              </a:r>
              <a:endParaRPr lang="en-US" sz="199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56" name="TextBox 2"/>
            <p:cNvSpPr/>
            <p:nvPr/>
          </p:nvSpPr>
          <p:spPr>
            <a:xfrm>
              <a:off x="6818040" y="3912120"/>
              <a:ext cx="3913560" cy="82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4800" b="1" u="none" strike="noStrike" spc="-300">
                  <a:solidFill>
                    <a:schemeClr val="lt1"/>
                  </a:solidFill>
                  <a:effectLst/>
                  <a:uFillTx/>
                  <a:latin typeface="Pretendard"/>
                  <a:ea typeface="Pretendard"/>
                </a:rPr>
                <a:t>미래 개선사항</a:t>
              </a:r>
              <a:endParaRPr lang="en-US" sz="48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cxnSp>
          <p:nvCxnSpPr>
            <p:cNvPr id="157" name="직선 연결선 3"/>
            <p:cNvCxnSpPr/>
            <p:nvPr/>
          </p:nvCxnSpPr>
          <p:spPr>
            <a:xfrm>
              <a:off x="6817680" y="5107320"/>
              <a:ext cx="5375880" cy="1800"/>
            </a:xfrm>
            <a:prstGeom prst="straightConnector1">
              <a:avLst/>
            </a:prstGeom>
            <a:ln w="76320">
              <a:solidFill>
                <a:srgbClr val="FFFFFF"/>
              </a:solidFill>
              <a:miter/>
            </a:ln>
          </p:spPr>
        </p:cxnSp>
        <p:cxnSp>
          <p:nvCxnSpPr>
            <p:cNvPr id="158" name="직선 연결선 5"/>
            <p:cNvCxnSpPr/>
            <p:nvPr/>
          </p:nvCxnSpPr>
          <p:spPr>
            <a:xfrm>
              <a:off x="6817680" y="5355720"/>
              <a:ext cx="5375880" cy="1800"/>
            </a:xfrm>
            <a:prstGeom prst="straightConnector1">
              <a:avLst/>
            </a:prstGeom>
            <a:ln w="3240">
              <a:solidFill>
                <a:srgbClr val="FFFFFF"/>
              </a:solidFill>
              <a:miter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58"/>
          <p:cNvSpPr/>
          <p:nvPr/>
        </p:nvSpPr>
        <p:spPr>
          <a:xfrm flipH="1">
            <a:off x="435240" y="486000"/>
            <a:ext cx="4871160" cy="8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미래 개선사항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0" name="TextBox 59"/>
          <p:cNvSpPr/>
          <p:nvPr/>
        </p:nvSpPr>
        <p:spPr>
          <a:xfrm>
            <a:off x="309960" y="1769400"/>
            <a:ext cx="61693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아이디어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통신 프로토콜 적용으로 데이터신뢰성을 올리거나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가변길이 문자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유니코드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또는 문자열통신을 구현가능하다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SIDE_EFF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UART</a:t>
            </a: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는 잡음에 취약하기 때문에 프로토콜에 맞지 않아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just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데이터가 유실될 가능성이 높아진다</a:t>
            </a:r>
            <a:r>
              <a:rPr lang="en-US" sz="18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453" y="3545633"/>
            <a:ext cx="6893654" cy="30184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57"/>
          <p:cNvSpPr/>
          <p:nvPr/>
        </p:nvSpPr>
        <p:spPr>
          <a:xfrm flipH="1">
            <a:off x="435240" y="486000"/>
            <a:ext cx="4871160" cy="161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PROJECT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en-US" sz="5000" b="1" u="none" strike="noStrike" spc="-30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 Black"/>
                <a:ea typeface="Pretendard Black"/>
              </a:rPr>
              <a:t>GITHUB LINK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3" name="TextBox 60"/>
          <p:cNvSpPr/>
          <p:nvPr/>
        </p:nvSpPr>
        <p:spPr>
          <a:xfrm>
            <a:off x="720000" y="5220000"/>
            <a:ext cx="11029680" cy="11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200" b="1" u="sng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  <a:hlinkClick r:id="rId2"/>
              </a:rPr>
              <a:t>UART_WATCH_v1</a:t>
            </a:r>
            <a:r>
              <a:rPr lang="en-US" sz="24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 ← Ctrl Click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Pretendard"/>
                <a:ea typeface="Pretendard"/>
              </a:rPr>
              <a:t>https://github.com/cong2738/FPGA_Harman/tree/main/UART_WATCH_v1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그룹 1"/>
          <p:cNvGrpSpPr/>
          <p:nvPr/>
        </p:nvGrpSpPr>
        <p:grpSpPr>
          <a:xfrm>
            <a:off x="180000" y="2340000"/>
            <a:ext cx="5375520" cy="4484880"/>
            <a:chOff x="180000" y="2340000"/>
            <a:chExt cx="5375520" cy="4484880"/>
          </a:xfrm>
        </p:grpSpPr>
        <p:sp>
          <p:nvSpPr>
            <p:cNvPr id="165" name="TextBox 61"/>
            <p:cNvSpPr/>
            <p:nvPr/>
          </p:nvSpPr>
          <p:spPr>
            <a:xfrm>
              <a:off x="180360" y="2340000"/>
              <a:ext cx="1864800" cy="312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맑은 고딕"/>
                <a:ea typeface="DejaVu Sans"/>
              </a:endParaRPr>
            </a:p>
          </p:txBody>
        </p:sp>
        <p:sp>
          <p:nvSpPr>
            <p:cNvPr id="166" name="TextBox 62"/>
            <p:cNvSpPr/>
            <p:nvPr/>
          </p:nvSpPr>
          <p:spPr>
            <a:xfrm>
              <a:off x="180360" y="5379840"/>
              <a:ext cx="3075480" cy="82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4800" b="1" u="none" strike="noStrike" spc="-300">
                  <a:solidFill>
                    <a:schemeClr val="lt1"/>
                  </a:solidFill>
                  <a:effectLst/>
                  <a:uFillTx/>
                  <a:latin typeface="Pretendard"/>
                  <a:ea typeface="Pretendard"/>
                </a:rPr>
                <a:t>감사합니다</a:t>
              </a:r>
              <a:endParaRPr lang="en-US" sz="48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cxnSp>
          <p:nvCxnSpPr>
            <p:cNvPr id="167" name="직선 연결선 1"/>
            <p:cNvCxnSpPr/>
            <p:nvPr/>
          </p:nvCxnSpPr>
          <p:spPr>
            <a:xfrm>
              <a:off x="180000" y="6575040"/>
              <a:ext cx="5375880" cy="1800"/>
            </a:xfrm>
            <a:prstGeom prst="straightConnector1">
              <a:avLst/>
            </a:prstGeom>
            <a:ln w="76320">
              <a:solidFill>
                <a:srgbClr val="FFFFFF"/>
              </a:solidFill>
              <a:miter/>
            </a:ln>
          </p:spPr>
        </p:cxnSp>
        <p:cxnSp>
          <p:nvCxnSpPr>
            <p:cNvPr id="168" name="직선 연결선 8"/>
            <p:cNvCxnSpPr/>
            <p:nvPr/>
          </p:nvCxnSpPr>
          <p:spPr>
            <a:xfrm>
              <a:off x="180000" y="6823440"/>
              <a:ext cx="5375880" cy="1800"/>
            </a:xfrm>
            <a:prstGeom prst="straightConnector1">
              <a:avLst/>
            </a:prstGeom>
            <a:ln w="3240">
              <a:solidFill>
                <a:srgbClr val="FFFFFF"/>
              </a:solidFill>
              <a:miter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_008_10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_008_10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_008_10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_008_10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_008_10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_008_10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1364</TotalTime>
  <Words>432</Words>
  <Application>Microsoft Office PowerPoint</Application>
  <PresentationFormat>와이드스크린</PresentationFormat>
  <Paragraphs>143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30</vt:i4>
      </vt:variant>
    </vt:vector>
  </HeadingPairs>
  <TitlesOfParts>
    <vt:vector size="42" baseType="lpstr">
      <vt:lpstr>DejaVu Sans</vt:lpstr>
      <vt:lpstr>Pretendard</vt:lpstr>
      <vt:lpstr>Pretendard Black</vt:lpstr>
      <vt:lpstr>맑은 고딕</vt:lpstr>
      <vt:lpstr>Arial</vt:lpstr>
      <vt:lpstr>Wingdings</vt:lpstr>
      <vt:lpstr>Office 테마</vt:lpstr>
      <vt:lpstr>Office 테마</vt:lpstr>
      <vt:lpstr>Office 테마</vt:lpstr>
      <vt:lpstr>Office 테마</vt:lpstr>
      <vt:lpstr>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Yu Saebyeol</dc:creator>
  <dc:description/>
  <cp:lastModifiedBy>kccistc</cp:lastModifiedBy>
  <cp:revision>137</cp:revision>
  <dcterms:created xsi:type="dcterms:W3CDTF">2022-08-03T01:14:38Z</dcterms:created>
  <dcterms:modified xsi:type="dcterms:W3CDTF">2025-03-24T00:59:31Z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와이드스크린</vt:lpwstr>
  </property>
  <property fmtid="{D5CDD505-2E9C-101B-9397-08002B2CF9AE}" pid="3" name="Slides">
    <vt:i4>29</vt:i4>
  </property>
</Properties>
</file>